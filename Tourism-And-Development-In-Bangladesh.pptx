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6" r:id="rId2"/>
    <p:sldId id="257" r:id="rId3"/>
    <p:sldId id="258" r:id="rId4"/>
    <p:sldId id="260" r:id="rId5"/>
    <p:sldId id="262" r:id="rId6"/>
    <p:sldId id="267" r:id="rId7"/>
    <p:sldId id="268" r:id="rId8"/>
    <p:sldId id="270" r:id="rId9"/>
    <p:sldId id="271" r:id="rId10"/>
    <p:sldId id="272" r:id="rId11"/>
    <p:sldId id="274" r:id="rId12"/>
    <p:sldId id="275" r:id="rId13"/>
    <p:sldId id="276" r:id="rId14"/>
    <p:sldId id="277" r:id="rId15"/>
    <p:sldId id="279" r:id="rId16"/>
    <p:sldId id="282" r:id="rId17"/>
    <p:sldId id="283" r:id="rId18"/>
    <p:sldId id="284" r:id="rId19"/>
    <p:sldId id="285" r:id="rId20"/>
    <p:sldId id="286" r:id="rId21"/>
    <p:sldId id="287" r:id="rId22"/>
    <p:sldId id="288" r:id="rId23"/>
    <p:sldId id="289" r:id="rId24"/>
    <p:sldId id="290" r:id="rId25"/>
    <p:sldId id="293" r:id="rId26"/>
    <p:sldId id="294" r:id="rId27"/>
    <p:sldId id="295" r:id="rId28"/>
    <p:sldId id="296" r:id="rId29"/>
    <p:sldId id="297" r:id="rId30"/>
    <p:sldId id="298" r:id="rId31"/>
    <p:sldId id="299" r:id="rId32"/>
    <p:sldId id="300" r:id="rId33"/>
    <p:sldId id="301" r:id="rId34"/>
    <p:sldId id="302" r:id="rId35"/>
    <p:sldId id="304" r:id="rId36"/>
    <p:sldId id="305" r:id="rId37"/>
    <p:sldId id="306" r:id="rId38"/>
    <p:sldId id="307" r:id="rId39"/>
    <p:sldId id="308" r:id="rId40"/>
    <p:sldId id="329" r:id="rId41"/>
    <p:sldId id="327" r:id="rId42"/>
    <p:sldId id="309" r:id="rId43"/>
    <p:sldId id="310" r:id="rId44"/>
    <p:sldId id="311" r:id="rId45"/>
    <p:sldId id="312" r:id="rId46"/>
    <p:sldId id="313" r:id="rId47"/>
    <p:sldId id="314" r:id="rId48"/>
    <p:sldId id="315" r:id="rId49"/>
    <p:sldId id="316" r:id="rId50"/>
    <p:sldId id="319" r:id="rId51"/>
    <p:sldId id="320" r:id="rId52"/>
    <p:sldId id="321" r:id="rId53"/>
    <p:sldId id="322" r:id="rId54"/>
    <p:sldId id="323" r:id="rId55"/>
    <p:sldId id="324" r:id="rId56"/>
    <p:sldId id="326" r:id="rId57"/>
    <p:sldId id="325" r:id="rId58"/>
    <p:sldId id="281"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32" autoAdjust="0"/>
    <p:restoredTop sz="94660"/>
  </p:normalViewPr>
  <p:slideViewPr>
    <p:cSldViewPr snapToGrid="0">
      <p:cViewPr>
        <p:scale>
          <a:sx n="76" d="100"/>
          <a:sy n="76" d="100"/>
        </p:scale>
        <p:origin x="-18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DF7BB-36FB-488A-BFEC-D485088E09FF}" type="datetimeFigureOut">
              <a:rPr lang="en-US" smtClean="0"/>
              <a:t>31-Dec-20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A05F5B-C1B2-4F7A-879E-EDD60B6C1FA6}" type="slidenum">
              <a:rPr lang="en-US" smtClean="0"/>
              <a:t>‹#›</a:t>
            </a:fld>
            <a:endParaRPr lang="en-US"/>
          </a:p>
        </p:txBody>
      </p:sp>
    </p:spTree>
    <p:extLst>
      <p:ext uri="{BB962C8B-B14F-4D97-AF65-F5344CB8AC3E}">
        <p14:creationId xmlns:p14="http://schemas.microsoft.com/office/powerpoint/2010/main" val="2325338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A05F5B-C1B2-4F7A-879E-EDD60B6C1FA6}" type="slidenum">
              <a:rPr lang="en-US" smtClean="0"/>
              <a:t>1</a:t>
            </a:fld>
            <a:endParaRPr lang="en-US"/>
          </a:p>
        </p:txBody>
      </p:sp>
    </p:spTree>
    <p:extLst>
      <p:ext uri="{BB962C8B-B14F-4D97-AF65-F5344CB8AC3E}">
        <p14:creationId xmlns:p14="http://schemas.microsoft.com/office/powerpoint/2010/main" val="742289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4221709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24833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303843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60E44D6-6097-45C4-BB36-4474551C7F71}" type="datetimeFigureOut">
              <a:rPr lang="en-US" smtClean="0"/>
              <a:t>31-Dec-20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13866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60E44D6-6097-45C4-BB36-4474551C7F71}" type="datetimeFigureOut">
              <a:rPr lang="en-US" smtClean="0"/>
              <a:t>31-Dec-20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682349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60E44D6-6097-45C4-BB36-4474551C7F71}" type="datetimeFigureOut">
              <a:rPr lang="en-US" smtClean="0"/>
              <a:t>31-Dec-20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1911786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0E44D6-6097-45C4-BB36-4474551C7F71}" type="datetimeFigureOut">
              <a:rPr lang="en-US" smtClean="0"/>
              <a:t>31-Dec-20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28789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60E44D6-6097-45C4-BB36-4474551C7F71}" type="datetimeFigureOut">
              <a:rPr lang="en-US" smtClean="0"/>
              <a:t>31-Dec-20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3489942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60E44D6-6097-45C4-BB36-4474551C7F71}" type="datetimeFigureOut">
              <a:rPr lang="en-US" smtClean="0"/>
              <a:t>31-Dec-20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2984868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109833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13782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1196871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27496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1152003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324435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60E44D6-6097-45C4-BB36-4474551C7F71}" type="datetimeFigureOut">
              <a:rPr lang="en-US" smtClean="0"/>
              <a:t>31-Dec-20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FF55D5-847E-4167-B561-CF48745A0959}" type="slidenum">
              <a:rPr lang="en-US" smtClean="0"/>
              <a:t>‹#›</a:t>
            </a:fld>
            <a:endParaRPr lang="en-US"/>
          </a:p>
        </p:txBody>
      </p:sp>
    </p:spTree>
    <p:extLst>
      <p:ext uri="{BB962C8B-B14F-4D97-AF65-F5344CB8AC3E}">
        <p14:creationId xmlns:p14="http://schemas.microsoft.com/office/powerpoint/2010/main" val="393975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60E44D6-6097-45C4-BB36-4474551C7F71}" type="datetimeFigureOut">
              <a:rPr lang="en-US" smtClean="0"/>
              <a:t>31-Dec-20</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2FF55D5-847E-4167-B561-CF48745A0959}" type="slidenum">
              <a:rPr lang="en-US" smtClean="0"/>
              <a:t>‹#›</a:t>
            </a:fld>
            <a:endParaRPr lang="en-US"/>
          </a:p>
        </p:txBody>
      </p:sp>
    </p:spTree>
    <p:extLst>
      <p:ext uri="{BB962C8B-B14F-4D97-AF65-F5344CB8AC3E}">
        <p14:creationId xmlns:p14="http://schemas.microsoft.com/office/powerpoint/2010/main" val="12266694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unb.com.bd/category/Special/buddha-dhatu-jadi-the-sacred-tourist-spot-and-its-trouble/41597"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en.wikipedia.org/wiki/Aladdin"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2031023" y="577942"/>
            <a:ext cx="8150055" cy="295460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vert="horz" wrap="square" lIns="91440" tIns="76176" rIns="9144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lnSpc>
                <a:spcPct val="100000"/>
              </a:lnSpc>
            </a:pPr>
            <a:r>
              <a:rPr kumimoji="0" lang="en-US" altLang="en-US" sz="1400" b="1" i="0" u="none" strike="noStrike" cap="none" normalizeH="0" baseline="0" dirty="0" smtClean="0">
                <a:ln>
                  <a:noFill/>
                </a:ln>
                <a:effectLst/>
                <a:latin typeface="SourceSansProSemiBold"/>
              </a:rPr>
              <a:t/>
            </a:r>
            <a:br>
              <a:rPr kumimoji="0" lang="en-US" altLang="en-US" sz="1400" b="1" i="0" u="none" strike="noStrike" cap="none" normalizeH="0" baseline="0" dirty="0" smtClean="0">
                <a:ln>
                  <a:noFill/>
                </a:ln>
                <a:effectLst/>
                <a:latin typeface="SourceSansProSemiBold"/>
              </a:rPr>
            </a:br>
            <a:r>
              <a:rPr kumimoji="0" lang="en-US" altLang="en-US" sz="1400" b="1" i="0" u="none" strike="noStrike" cap="none" normalizeH="0" baseline="0" dirty="0" smtClean="0">
                <a:ln>
                  <a:noFill/>
                </a:ln>
                <a:effectLst/>
                <a:latin typeface="SourceSansProSemiBold"/>
              </a:rPr>
              <a:t/>
            </a:r>
            <a:br>
              <a:rPr kumimoji="0" lang="en-US" altLang="en-US" sz="1400" b="1" i="0" u="none" strike="noStrike" cap="none" normalizeH="0" baseline="0" dirty="0" smtClean="0">
                <a:ln>
                  <a:noFill/>
                </a:ln>
                <a:effectLst/>
                <a:latin typeface="SourceSansProSemiBold"/>
              </a:rPr>
            </a:br>
            <a:r>
              <a:rPr kumimoji="0" lang="en-US" altLang="en-US" sz="1400" b="1" i="0" u="none" strike="noStrike" cap="none" normalizeH="0" baseline="0" dirty="0" smtClean="0">
                <a:ln>
                  <a:noFill/>
                </a:ln>
                <a:effectLst/>
                <a:latin typeface="SourceSansProSemiBold"/>
              </a:rPr>
              <a:t>BANGLADESH STUDIES</a:t>
            </a:r>
            <a:br>
              <a:rPr kumimoji="0" lang="en-US" altLang="en-US" sz="1400" b="1" i="0" u="none" strike="noStrike" cap="none" normalizeH="0" baseline="0" dirty="0" smtClean="0">
                <a:ln>
                  <a:noFill/>
                </a:ln>
                <a:effectLst/>
                <a:latin typeface="SourceSansProSemiBold"/>
              </a:rPr>
            </a:br>
            <a:r>
              <a:rPr kumimoji="0" lang="en-US" altLang="en-US" sz="1400" b="1" i="0" u="none" strike="noStrike" cap="none" normalizeH="0" baseline="0" dirty="0" smtClean="0">
                <a:ln>
                  <a:noFill/>
                </a:ln>
                <a:effectLst/>
                <a:latin typeface="SourceSansProSemiBold"/>
              </a:rPr>
              <a:t/>
            </a:r>
            <a:br>
              <a:rPr kumimoji="0" lang="en-US" altLang="en-US" sz="1400" b="1" i="0" u="none" strike="noStrike" cap="none" normalizeH="0" baseline="0" dirty="0" smtClean="0">
                <a:ln>
                  <a:noFill/>
                </a:ln>
                <a:effectLst/>
                <a:latin typeface="SourceSansProSemiBold"/>
              </a:rPr>
            </a:br>
            <a:r>
              <a:rPr lang="en-US" altLang="en-US" sz="1400" b="1" dirty="0" smtClean="0">
                <a:latin typeface="SourceSansProSemiBold"/>
              </a:rPr>
              <a:t>SECTION : G</a:t>
            </a:r>
            <a:br>
              <a:rPr lang="en-US" altLang="en-US" sz="1400" b="1" dirty="0" smtClean="0">
                <a:latin typeface="SourceSansProSemiBold"/>
              </a:rPr>
            </a:br>
            <a:r>
              <a:rPr lang="en-US" altLang="en-US" sz="1400" b="1" dirty="0" smtClean="0">
                <a:latin typeface="SourceSansProSemiBold"/>
              </a:rPr>
              <a:t/>
            </a:r>
            <a:br>
              <a:rPr lang="en-US" altLang="en-US" sz="1400" b="1" dirty="0" smtClean="0">
                <a:latin typeface="SourceSansProSemiBold"/>
              </a:rPr>
            </a:br>
            <a:r>
              <a:rPr lang="en-US" altLang="en-US" sz="1400" b="1" dirty="0" smtClean="0">
                <a:latin typeface="SourceSansProSemiBold"/>
              </a:rPr>
              <a:t>COURSE TEACHER: </a:t>
            </a:r>
            <a:r>
              <a:rPr lang="en-US" sz="1400" b="1" dirty="0" smtClean="0"/>
              <a:t>SHAIRA MATIN</a:t>
            </a:r>
            <a:br>
              <a:rPr lang="en-US" sz="1400" b="1" dirty="0" smtClean="0"/>
            </a:br>
            <a:r>
              <a:rPr lang="en-US" sz="1400" b="1" dirty="0" smtClean="0"/>
              <a:t/>
            </a:r>
            <a:br>
              <a:rPr lang="en-US" sz="1400" b="1" dirty="0" smtClean="0"/>
            </a:br>
            <a:r>
              <a:rPr lang="en-US" sz="1400" b="1" dirty="0" smtClean="0"/>
              <a:t>TITLE : TOURISM AND DEVELOPMENT IN BANGLADESH</a:t>
            </a:r>
            <a:br>
              <a:rPr lang="en-US" sz="1400" b="1" dirty="0" smtClean="0"/>
            </a:br>
            <a:r>
              <a:rPr lang="en-US" sz="1400" b="1" dirty="0" smtClean="0"/>
              <a:t/>
            </a:r>
            <a:br>
              <a:rPr lang="en-US" sz="1400" b="1" dirty="0" smtClean="0"/>
            </a:br>
            <a:r>
              <a:rPr lang="en-US" sz="1400" b="1" dirty="0" smtClean="0"/>
              <a:t>GROUP MEMBERS:</a:t>
            </a:r>
            <a:br>
              <a:rPr lang="en-US" sz="1400" b="1" dirty="0" smtClean="0"/>
            </a:br>
            <a:r>
              <a:rPr kumimoji="0" lang="en-US" altLang="en-US" sz="1400" b="0" i="0" u="none" strike="noStrike" cap="none" normalizeH="0" baseline="0" dirty="0" smtClean="0">
                <a:ln>
                  <a:noFill/>
                </a:ln>
                <a:solidFill>
                  <a:srgbClr val="000000"/>
                </a:solidFill>
                <a:effectLst/>
                <a:latin typeface="SourceSansPro"/>
              </a:rPr>
              <a:t/>
            </a:r>
            <a:br>
              <a:rPr kumimoji="0" lang="en-US" altLang="en-US" sz="1400" b="0" i="0" u="none" strike="noStrike" cap="none" normalizeH="0" baseline="0" dirty="0" smtClean="0">
                <a:ln>
                  <a:noFill/>
                </a:ln>
                <a:solidFill>
                  <a:srgbClr val="000000"/>
                </a:solidFill>
                <a:effectLst/>
                <a:latin typeface="SourceSansPro"/>
              </a:rPr>
            </a:br>
            <a:endParaRPr kumimoji="0" lang="en-US" altLang="en-US" sz="1400" b="0" i="0" u="none" strike="noStrike" cap="none" normalizeH="0" baseline="0" dirty="0" smtClean="0">
              <a:ln>
                <a:noFill/>
              </a:ln>
              <a:solidFill>
                <a:schemeClr val="tx1"/>
              </a:solidFill>
              <a:effectLst/>
            </a:endParaRPr>
          </a:p>
        </p:txBody>
      </p:sp>
      <p:graphicFrame>
        <p:nvGraphicFramePr>
          <p:cNvPr id="5" name="Table 4"/>
          <p:cNvGraphicFramePr>
            <a:graphicFrameLocks noGrp="1"/>
          </p:cNvGraphicFramePr>
          <p:nvPr>
            <p:extLst>
              <p:ext uri="{D42A27DB-BD31-4B8C-83A1-F6EECF244321}">
                <p14:modId xmlns:p14="http://schemas.microsoft.com/office/powerpoint/2010/main" val="2162767877"/>
              </p:ext>
            </p:extLst>
          </p:nvPr>
        </p:nvGraphicFramePr>
        <p:xfrm>
          <a:off x="2031023" y="3195125"/>
          <a:ext cx="8137240" cy="3526707"/>
        </p:xfrm>
        <a:graphic>
          <a:graphicData uri="http://schemas.openxmlformats.org/drawingml/2006/table">
            <a:tbl>
              <a:tblPr firstRow="1" bandRow="1">
                <a:tableStyleId>{5C22544A-7EE6-4342-B048-85BDC9FD1C3A}</a:tableStyleId>
              </a:tblPr>
              <a:tblGrid>
                <a:gridCol w="3928819">
                  <a:extLst>
                    <a:ext uri="{9D8B030D-6E8A-4147-A177-3AD203B41FA5}">
                      <a16:colId xmlns="" xmlns:a16="http://schemas.microsoft.com/office/drawing/2014/main" val="957659836"/>
                    </a:ext>
                  </a:extLst>
                </a:gridCol>
                <a:gridCol w="4208421">
                  <a:extLst>
                    <a:ext uri="{9D8B030D-6E8A-4147-A177-3AD203B41FA5}">
                      <a16:colId xmlns="" xmlns:a16="http://schemas.microsoft.com/office/drawing/2014/main" val="4071608973"/>
                    </a:ext>
                  </a:extLst>
                </a:gridCol>
              </a:tblGrid>
              <a:tr h="343216">
                <a:tc>
                  <a:txBody>
                    <a:bodyPr/>
                    <a:lstStyle/>
                    <a:p>
                      <a:r>
                        <a:rPr lang="en-US" dirty="0" smtClean="0"/>
                        <a:t>NAME </a:t>
                      </a:r>
                      <a:endParaRPr lang="en-US" dirty="0"/>
                    </a:p>
                  </a:txBody>
                  <a:tcPr/>
                </a:tc>
                <a:tc>
                  <a:txBody>
                    <a:bodyPr/>
                    <a:lstStyle/>
                    <a:p>
                      <a:r>
                        <a:rPr lang="en-US" dirty="0" smtClean="0"/>
                        <a:t>ID</a:t>
                      </a:r>
                      <a:endParaRPr lang="en-US" dirty="0"/>
                    </a:p>
                  </a:txBody>
                  <a:tcPr/>
                </a:tc>
                <a:extLst>
                  <a:ext uri="{0D108BD9-81ED-4DB2-BD59-A6C34878D82A}">
                    <a16:rowId xmlns="" xmlns:a16="http://schemas.microsoft.com/office/drawing/2014/main" val="1829410388"/>
                  </a:ext>
                </a:extLst>
              </a:tr>
              <a:tr h="600627">
                <a:tc>
                  <a:txBody>
                    <a:bodyPr/>
                    <a:lstStyle/>
                    <a:p>
                      <a:r>
                        <a:rPr lang="en-US" sz="1800" dirty="0" smtClean="0"/>
                        <a:t>SHIL, DIPONKOR </a:t>
                      </a:r>
                      <a:r>
                        <a:rPr lang="en-US" sz="1800" kern="1200" dirty="0" smtClean="0">
                          <a:solidFill>
                            <a:schemeClr val="dk1"/>
                          </a:solidFill>
                          <a:effectLst/>
                          <a:latin typeface="+mn-lt"/>
                          <a:ea typeface="+mn-ea"/>
                          <a:cs typeface="+mn-cs"/>
                        </a:rPr>
                        <a:t>CHANDRA</a:t>
                      </a:r>
                      <a:endParaRPr lang="en-US" sz="1800" dirty="0" smtClean="0"/>
                    </a:p>
                    <a:p>
                      <a:endParaRPr lang="en-US" dirty="0"/>
                    </a:p>
                  </a:txBody>
                  <a:tcPr/>
                </a:tc>
                <a:tc>
                  <a:txBody>
                    <a:bodyPr/>
                    <a:lstStyle/>
                    <a:p>
                      <a:r>
                        <a:rPr lang="en-US" sz="1800" dirty="0" smtClean="0"/>
                        <a:t>18-37790-2</a:t>
                      </a:r>
                      <a:endParaRPr lang="en-US" dirty="0"/>
                    </a:p>
                  </a:txBody>
                  <a:tcPr/>
                </a:tc>
                <a:extLst>
                  <a:ext uri="{0D108BD9-81ED-4DB2-BD59-A6C34878D82A}">
                    <a16:rowId xmlns="" xmlns:a16="http://schemas.microsoft.com/office/drawing/2014/main" val="1284400062"/>
                  </a:ext>
                </a:extLst>
              </a:tr>
              <a:tr h="600627">
                <a:tc>
                  <a:txBody>
                    <a:bodyPr/>
                    <a:lstStyle/>
                    <a:p>
                      <a:r>
                        <a:rPr lang="en-US" sz="1800" dirty="0" smtClean="0"/>
                        <a:t>MD. REFATUL ISLAM</a:t>
                      </a:r>
                      <a:endParaRPr lang="en-US" dirty="0"/>
                    </a:p>
                  </a:txBody>
                  <a:tcPr/>
                </a:tc>
                <a:tc>
                  <a:txBody>
                    <a:bodyPr/>
                    <a:lstStyle/>
                    <a:p>
                      <a:r>
                        <a:rPr lang="en-US" sz="1800" dirty="0" smtClean="0"/>
                        <a:t>18-37818-2</a:t>
                      </a:r>
                      <a:br>
                        <a:rPr lang="en-US" sz="1800" dirty="0" smtClean="0"/>
                      </a:br>
                      <a:endParaRPr lang="en-US" dirty="0"/>
                    </a:p>
                  </a:txBody>
                  <a:tcPr/>
                </a:tc>
                <a:extLst>
                  <a:ext uri="{0D108BD9-81ED-4DB2-BD59-A6C34878D82A}">
                    <a16:rowId xmlns="" xmlns:a16="http://schemas.microsoft.com/office/drawing/2014/main" val="4029968929"/>
                  </a:ext>
                </a:extLst>
              </a:tr>
              <a:tr h="600627">
                <a:tc>
                  <a:txBody>
                    <a:bodyPr/>
                    <a:lstStyle/>
                    <a:p>
                      <a:r>
                        <a:rPr lang="en-US" sz="1800" b="0" i="0" kern="1200" dirty="0" smtClean="0">
                          <a:solidFill>
                            <a:schemeClr val="dk1"/>
                          </a:solidFill>
                          <a:effectLst/>
                          <a:latin typeface="+mn-lt"/>
                          <a:ea typeface="+mn-ea"/>
                          <a:cs typeface="+mn-cs"/>
                        </a:rPr>
                        <a:t>HABIB, MD. TAHSINUR RAHMAN</a:t>
                      </a:r>
                      <a:endParaRPr lang="en-US" dirty="0"/>
                    </a:p>
                  </a:txBody>
                  <a:tcPr/>
                </a:tc>
                <a:tc>
                  <a:txBody>
                    <a:bodyPr/>
                    <a:lstStyle/>
                    <a:p>
                      <a:r>
                        <a:rPr lang="en-US" sz="1800" dirty="0" smtClean="0"/>
                        <a:t>18-37837-2</a:t>
                      </a:r>
                      <a:endParaRPr lang="en-US" dirty="0"/>
                    </a:p>
                  </a:txBody>
                  <a:tcPr/>
                </a:tc>
                <a:extLst>
                  <a:ext uri="{0D108BD9-81ED-4DB2-BD59-A6C34878D82A}">
                    <a16:rowId xmlns="" xmlns:a16="http://schemas.microsoft.com/office/drawing/2014/main" val="3793476004"/>
                  </a:ext>
                </a:extLst>
              </a:tr>
              <a:tr h="600627">
                <a:tc>
                  <a:txBody>
                    <a:bodyPr/>
                    <a:lstStyle/>
                    <a:p>
                      <a:r>
                        <a:rPr lang="en-US" sz="1800" dirty="0" smtClean="0"/>
                        <a:t>KIBRIA, RASEL</a:t>
                      </a:r>
                      <a:endParaRPr lang="en-US" dirty="0"/>
                    </a:p>
                  </a:txBody>
                  <a:tcPr/>
                </a:tc>
                <a:tc>
                  <a:txBody>
                    <a:bodyPr/>
                    <a:lstStyle/>
                    <a:p>
                      <a:r>
                        <a:rPr lang="en-US" sz="1800" dirty="0" smtClean="0"/>
                        <a:t>18-37797-2</a:t>
                      </a:r>
                      <a:r>
                        <a:rPr lang="en-US" sz="1800" b="1" dirty="0" smtClean="0"/>
                        <a:t/>
                      </a:r>
                      <a:br>
                        <a:rPr lang="en-US" sz="1800" b="1" dirty="0" smtClean="0"/>
                      </a:br>
                      <a:endParaRPr lang="en-US" dirty="0"/>
                    </a:p>
                  </a:txBody>
                  <a:tcPr/>
                </a:tc>
                <a:extLst>
                  <a:ext uri="{0D108BD9-81ED-4DB2-BD59-A6C34878D82A}">
                    <a16:rowId xmlns="" xmlns:a16="http://schemas.microsoft.com/office/drawing/2014/main" val="1394990295"/>
                  </a:ext>
                </a:extLst>
              </a:tr>
              <a:tr h="600627">
                <a:tc>
                  <a:txBody>
                    <a:bodyPr/>
                    <a:lstStyle/>
                    <a:p>
                      <a:r>
                        <a:rPr lang="en-US" sz="1800" dirty="0" smtClean="0"/>
                        <a:t>MD. SAJID AL SAKIB</a:t>
                      </a:r>
                    </a:p>
                    <a:p>
                      <a:r>
                        <a:rPr lang="en-US" sz="1800" dirty="0" smtClean="0"/>
                        <a:t>	</a:t>
                      </a:r>
                      <a:endParaRPr lang="en-US" dirty="0"/>
                    </a:p>
                  </a:txBody>
                  <a:tcPr/>
                </a:tc>
                <a:tc>
                  <a:txBody>
                    <a:bodyPr/>
                    <a:lstStyle/>
                    <a:p>
                      <a:r>
                        <a:rPr lang="en-US" sz="1800" dirty="0" smtClean="0"/>
                        <a:t>18-38085-2</a:t>
                      </a:r>
                      <a:endParaRPr lang="en-US" dirty="0"/>
                    </a:p>
                  </a:txBody>
                  <a:tcPr/>
                </a:tc>
                <a:extLst>
                  <a:ext uri="{0D108BD9-81ED-4DB2-BD59-A6C34878D82A}">
                    <a16:rowId xmlns="" xmlns:a16="http://schemas.microsoft.com/office/drawing/2014/main" val="2114405904"/>
                  </a:ext>
                </a:extLst>
              </a:tr>
            </a:tbl>
          </a:graphicData>
        </a:graphic>
      </p:graphicFrame>
      <p:pic>
        <p:nvPicPr>
          <p:cNvPr id="1027" name="Picture 3" descr="American International University-Bangladesh (AIU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43050" cy="15430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043838" y="577942"/>
            <a:ext cx="8137240"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dirty="0"/>
              <a:t>American International University-Bangladesh (AIUB)</a:t>
            </a:r>
          </a:p>
        </p:txBody>
      </p:sp>
    </p:spTree>
    <p:extLst>
      <p:ext uri="{BB962C8B-B14F-4D97-AF65-F5344CB8AC3E}">
        <p14:creationId xmlns:p14="http://schemas.microsoft.com/office/powerpoint/2010/main" val="248126273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088" y="1312984"/>
            <a:ext cx="8596668" cy="1320800"/>
          </a:xfrm>
        </p:spPr>
        <p:txBody>
          <a:bodyPr/>
          <a:lstStyle/>
          <a:p>
            <a:pPr lvl="0"/>
            <a:r>
              <a:rPr lang="en-US" dirty="0" smtClean="0"/>
              <a:t>1. </a:t>
            </a:r>
            <a:r>
              <a:rPr lang="en-US" b="1" u="sng" dirty="0"/>
              <a:t>Introduction:</a:t>
            </a:r>
            <a:r>
              <a:rPr lang="en-US" u="sng" dirty="0"/>
              <a:t/>
            </a:r>
            <a:br>
              <a:rPr lang="en-US" u="sng" dirty="0"/>
            </a:br>
            <a:endParaRPr lang="en-US" dirty="0"/>
          </a:p>
        </p:txBody>
      </p:sp>
      <p:sp>
        <p:nvSpPr>
          <p:cNvPr id="3" name="Content Placeholder 2"/>
          <p:cNvSpPr>
            <a:spLocks noGrp="1"/>
          </p:cNvSpPr>
          <p:nvPr>
            <p:ph idx="1"/>
          </p:nvPr>
        </p:nvSpPr>
        <p:spPr>
          <a:xfrm>
            <a:off x="897142" y="2151797"/>
            <a:ext cx="8596668" cy="3880773"/>
          </a:xfrm>
        </p:spPr>
        <p:txBody>
          <a:bodyPr>
            <a:normAutofit lnSpcReduction="10000"/>
          </a:bodyPr>
          <a:lstStyle/>
          <a:p>
            <a:r>
              <a:rPr lang="en-US" dirty="0"/>
              <a:t>Tourism is the act of travel for predominantly recreational or leisure purposes for the people nowadays. Peoples of Urban areas in Bangladesh are generally getting more attracted towards tourism and take a break from this hefty and busy life for a while. Beyond for pleasure, tourism can also be for some other purposes like Business and Study. According to the World Tourism Organization, tourists are people who "travel and stay in places outside their usual environment for not more than one consecutive year for leisure, business and other purposes.</a:t>
            </a:r>
            <a:br>
              <a:rPr lang="en-US" dirty="0"/>
            </a:br>
            <a:r>
              <a:rPr lang="en-US" dirty="0"/>
              <a:t>Bangladesh has also some tourist attractions Including Archeological Sites, Historical Mosques, Temples, Monuments, Rivers, Tea Gardens, Beaches, Forests, Mountains/Hill Tracks, Tribal areas, Wildlife Species etc. We also have many ancient artifacts and cities build on ancient civilization. Everything with beautiful and unforgettable natural tourist places to ancient artifacts, Bangladesh is rich for tourist attraction.</a:t>
            </a:r>
          </a:p>
          <a:p>
            <a:endParaRPr lang="en-US" dirty="0"/>
          </a:p>
        </p:txBody>
      </p:sp>
      <p:sp>
        <p:nvSpPr>
          <p:cNvPr id="5" name="TextBox 4"/>
          <p:cNvSpPr txBox="1"/>
          <p:nvPr/>
        </p:nvSpPr>
        <p:spPr>
          <a:xfrm>
            <a:off x="3023776" y="247246"/>
            <a:ext cx="4343400"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fontAlgn="t"/>
            <a:r>
              <a:rPr lang="en-US" b="1" dirty="0"/>
              <a:t>SHIL, DIPONKOR </a:t>
            </a:r>
            <a:r>
              <a:rPr lang="en-US" b="1" dirty="0" smtClean="0"/>
              <a:t>CHANDRA</a:t>
            </a:r>
            <a:r>
              <a:rPr lang="en-US" dirty="0" smtClean="0"/>
              <a:t> </a:t>
            </a:r>
            <a:r>
              <a:rPr lang="en-US" b="1" dirty="0" smtClean="0"/>
              <a:t>18-37790-2</a:t>
            </a:r>
            <a:endParaRPr lang="en-US" dirty="0"/>
          </a:p>
        </p:txBody>
      </p:sp>
    </p:spTree>
    <p:extLst>
      <p:ext uri="{BB962C8B-B14F-4D97-AF65-F5344CB8AC3E}">
        <p14:creationId xmlns:p14="http://schemas.microsoft.com/office/powerpoint/2010/main" val="22997601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626534" y="1610218"/>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smtClean="0"/>
              <a:t>This Temple is 1200 years old Hindu Temple built by </a:t>
            </a:r>
            <a:r>
              <a:rPr lang="en-US" dirty="0" err="1" smtClean="0"/>
              <a:t>Mangat</a:t>
            </a:r>
            <a:r>
              <a:rPr lang="en-US" dirty="0" smtClean="0"/>
              <a:t> Ray who was also known as </a:t>
            </a:r>
            <a:r>
              <a:rPr lang="en-US" dirty="0" err="1" smtClean="0"/>
              <a:t>Ballalsena</a:t>
            </a:r>
            <a:r>
              <a:rPr lang="en-US" dirty="0" smtClean="0"/>
              <a:t>, younger brother of Arakanese king Shree </a:t>
            </a:r>
            <a:r>
              <a:rPr lang="en-US" dirty="0" err="1" smtClean="0"/>
              <a:t>Sudharma</a:t>
            </a:r>
            <a:r>
              <a:rPr lang="en-US" dirty="0" smtClean="0"/>
              <a:t>, son of famous Arakanese king Raja </a:t>
            </a:r>
            <a:r>
              <a:rPr lang="en-US" dirty="0" err="1" smtClean="0"/>
              <a:t>Malhana</a:t>
            </a:r>
            <a:r>
              <a:rPr lang="en-US" dirty="0" smtClean="0"/>
              <a:t>. This is the </a:t>
            </a:r>
            <a:r>
              <a:rPr lang="en-US" dirty="0" err="1" smtClean="0"/>
              <a:t>centre</a:t>
            </a:r>
            <a:r>
              <a:rPr lang="en-US" dirty="0" smtClean="0"/>
              <a:t> of Hindu Religion in Dhaka. It is dedicated to </a:t>
            </a:r>
            <a:r>
              <a:rPr lang="en-US" dirty="0" err="1" smtClean="0"/>
              <a:t>Dhakeswari</a:t>
            </a:r>
            <a:r>
              <a:rPr lang="en-US" dirty="0" smtClean="0"/>
              <a:t>, the protector of Dhaka and an incarnation of the goddess </a:t>
            </a:r>
            <a:r>
              <a:rPr lang="en-US" dirty="0" err="1" smtClean="0"/>
              <a:t>Durga</a:t>
            </a:r>
            <a:r>
              <a:rPr lang="en-US" dirty="0" smtClean="0"/>
              <a:t>. Every year in September (exact dates vary according to the Hindu calendar), the temple and surrounding streets throng with thousands of celebrants for </a:t>
            </a:r>
            <a:r>
              <a:rPr lang="en-US" dirty="0" err="1" smtClean="0"/>
              <a:t>Durga</a:t>
            </a:r>
            <a:r>
              <a:rPr lang="en-US" dirty="0" smtClean="0"/>
              <a:t> Puja, the goddess' annual festival, a particularly </a:t>
            </a:r>
            <a:r>
              <a:rPr lang="en-US" dirty="0" err="1" smtClean="0"/>
              <a:t>colourful</a:t>
            </a:r>
            <a:r>
              <a:rPr lang="en-US" dirty="0" smtClean="0"/>
              <a:t>, noisy and joyful time to visit.</a:t>
            </a:r>
          </a:p>
          <a:p>
            <a:r>
              <a:rPr lang="en-US" dirty="0" smtClean="0"/>
              <a:t>Visitors are welcome at any time (remove shoes on entering).</a:t>
            </a:r>
          </a:p>
          <a:p>
            <a:endParaRPr lang="en-US" dirty="0"/>
          </a:p>
        </p:txBody>
      </p:sp>
      <p:sp>
        <p:nvSpPr>
          <p:cNvPr id="10" name="TextBox 9"/>
          <p:cNvSpPr txBox="1"/>
          <p:nvPr/>
        </p:nvSpPr>
        <p:spPr>
          <a:xfrm>
            <a:off x="3143475" y="216703"/>
            <a:ext cx="4513474"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sz="2400" b="1" dirty="0" smtClean="0">
                <a:solidFill>
                  <a:schemeClr val="bg1"/>
                </a:solidFill>
              </a:rPr>
              <a:t>2.Tourist Spots in Bangladesh</a:t>
            </a:r>
            <a:endParaRPr lang="en-US" sz="2400" b="1" dirty="0">
              <a:solidFill>
                <a:schemeClr val="bg1"/>
              </a:solidFill>
            </a:endParaRPr>
          </a:p>
        </p:txBody>
      </p:sp>
      <p:sp>
        <p:nvSpPr>
          <p:cNvPr id="11" name="TextBox 10"/>
          <p:cNvSpPr txBox="1"/>
          <p:nvPr/>
        </p:nvSpPr>
        <p:spPr>
          <a:xfrm>
            <a:off x="626534" y="1141902"/>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2.1.1.Dhakeswari </a:t>
            </a:r>
            <a:r>
              <a:rPr lang="en-US" b="1" dirty="0"/>
              <a:t>Temple</a:t>
            </a:r>
            <a:r>
              <a:rPr lang="en-US" b="1" dirty="0" smtClean="0"/>
              <a:t>:</a:t>
            </a:r>
            <a:endParaRPr lang="en-US" sz="1600" dirty="0"/>
          </a:p>
        </p:txBody>
      </p:sp>
      <p:sp>
        <p:nvSpPr>
          <p:cNvPr id="14" name="TextBox 13"/>
          <p:cNvSpPr txBox="1"/>
          <p:nvPr/>
        </p:nvSpPr>
        <p:spPr>
          <a:xfrm>
            <a:off x="3143475" y="673586"/>
            <a:ext cx="4513474" cy="369332"/>
          </a:xfrm>
          <a:prstGeom prst="rect">
            <a:avLst/>
          </a:prstGeom>
          <a:solidFill>
            <a:srgbClr val="00B050"/>
          </a:solidFill>
        </p:spPr>
        <p:txBody>
          <a:bodyPr wrap="square" rtlCol="0">
            <a:spAutoFit/>
          </a:bodyPr>
          <a:lstStyle/>
          <a:p>
            <a:r>
              <a:rPr lang="en-US" dirty="0" smtClean="0">
                <a:solidFill>
                  <a:schemeClr val="tx1"/>
                </a:solidFill>
              </a:rPr>
              <a:t>2.1. </a:t>
            </a:r>
            <a:r>
              <a:rPr lang="en-US" b="1" dirty="0" smtClean="0">
                <a:solidFill>
                  <a:schemeClr val="tx1"/>
                </a:solidFill>
              </a:rPr>
              <a:t>Tourist Places in Dhaka</a:t>
            </a:r>
          </a:p>
        </p:txBody>
      </p:sp>
      <p:pic>
        <p:nvPicPr>
          <p:cNvPr id="6" name="Content Placeholder 3"/>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39977" y="4353615"/>
            <a:ext cx="3390902" cy="1931242"/>
          </a:xfrm>
          <a:prstGeom prst="rect">
            <a:avLst/>
          </a:prstGeom>
        </p:spPr>
      </p:pic>
      <p:sp>
        <p:nvSpPr>
          <p:cNvPr id="7" name="TextBox 6"/>
          <p:cNvSpPr txBox="1"/>
          <p:nvPr/>
        </p:nvSpPr>
        <p:spPr>
          <a:xfrm>
            <a:off x="3510133" y="6284857"/>
            <a:ext cx="3650589" cy="646331"/>
          </a:xfrm>
          <a:prstGeom prst="rect">
            <a:avLst/>
          </a:prstGeom>
          <a:noFill/>
        </p:spPr>
        <p:txBody>
          <a:bodyPr wrap="square" rtlCol="0">
            <a:spAutoFit/>
          </a:bodyPr>
          <a:lstStyle/>
          <a:p>
            <a:r>
              <a:rPr lang="en-US" dirty="0"/>
              <a:t>Figure: </a:t>
            </a:r>
            <a:r>
              <a:rPr lang="en-US" dirty="0" err="1"/>
              <a:t>Dhakeswari</a:t>
            </a:r>
            <a:r>
              <a:rPr lang="en-US" dirty="0"/>
              <a:t> Temple</a:t>
            </a:r>
          </a:p>
          <a:p>
            <a:endParaRPr lang="en-US" dirty="0"/>
          </a:p>
        </p:txBody>
      </p:sp>
    </p:spTree>
    <p:extLst>
      <p:ext uri="{BB962C8B-B14F-4D97-AF65-F5344CB8AC3E}">
        <p14:creationId xmlns:p14="http://schemas.microsoft.com/office/powerpoint/2010/main" val="25527877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31839"/>
            <a:ext cx="8596668" cy="3880773"/>
          </a:xfrm>
        </p:spPr>
        <p:txBody>
          <a:bodyPr/>
          <a:lstStyle/>
          <a:p>
            <a:r>
              <a:rPr lang="en-US" dirty="0" err="1"/>
              <a:t>Lalbagh</a:t>
            </a:r>
            <a:r>
              <a:rPr lang="en-US" dirty="0"/>
              <a:t> Fort is an incomplete Mughal fort. The construction was started in 1678 AD by Mughal </a:t>
            </a:r>
            <a:r>
              <a:rPr lang="en-US" dirty="0" err="1"/>
              <a:t>Subahdar</a:t>
            </a:r>
            <a:r>
              <a:rPr lang="en-US" dirty="0"/>
              <a:t> Muhammad </a:t>
            </a:r>
            <a:r>
              <a:rPr lang="en-US" dirty="0" err="1"/>
              <a:t>Azam</a:t>
            </a:r>
            <a:r>
              <a:rPr lang="en-US" dirty="0"/>
              <a:t> Shah, who was son of Emperor Aurangzeb and later emperor himself. His successor, </a:t>
            </a:r>
            <a:r>
              <a:rPr lang="en-US" dirty="0" err="1"/>
              <a:t>Shaista</a:t>
            </a:r>
            <a:r>
              <a:rPr lang="en-US" dirty="0"/>
              <a:t> Khan, did not continue the work, though he stayed in Dhaka up to 1688. The fort was never completed, and unoccupied for a long period of time. Much of the complex was built over and now sits across from modern buildings.  The fort was considered to be a combination of three buildings : The mosque(West side), The tomb of Bibi </a:t>
            </a:r>
            <a:r>
              <a:rPr lang="en-US" dirty="0" err="1"/>
              <a:t>Pari</a:t>
            </a:r>
            <a:r>
              <a:rPr lang="en-US" dirty="0"/>
              <a:t>(In between The Mosque and The </a:t>
            </a:r>
            <a:r>
              <a:rPr lang="en-US" dirty="0" err="1"/>
              <a:t>Diwan-i-Aam</a:t>
            </a:r>
            <a:r>
              <a:rPr lang="en-US" dirty="0"/>
              <a:t>) and The </a:t>
            </a:r>
            <a:r>
              <a:rPr lang="en-US" dirty="0" err="1"/>
              <a:t>Diwan-i-Aam</a:t>
            </a:r>
            <a:r>
              <a:rPr lang="en-US" dirty="0"/>
              <a:t>(East side).</a:t>
            </a:r>
            <a:br>
              <a:rPr lang="en-US" dirty="0"/>
            </a:br>
            <a:r>
              <a:rPr lang="en-US" dirty="0"/>
              <a:t>It is a great artifact from Mughal Period.</a:t>
            </a:r>
          </a:p>
          <a:p>
            <a:endParaRPr lang="en-US" b="1" dirty="0"/>
          </a:p>
        </p:txBody>
      </p:sp>
      <p:sp>
        <p:nvSpPr>
          <p:cNvPr id="4" name="TextBox 3"/>
          <p:cNvSpPr txBox="1"/>
          <p:nvPr/>
        </p:nvSpPr>
        <p:spPr>
          <a:xfrm>
            <a:off x="677334" y="25270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2.1.2. </a:t>
            </a:r>
            <a:r>
              <a:rPr lang="en-US" b="1" dirty="0" err="1"/>
              <a:t>Lalbagh</a:t>
            </a:r>
            <a:r>
              <a:rPr lang="en-US" b="1" dirty="0"/>
              <a:t> </a:t>
            </a:r>
            <a:r>
              <a:rPr lang="en-US" b="1" dirty="0" smtClean="0"/>
              <a:t>Fort:</a:t>
            </a:r>
            <a:endParaRPr lang="en-US" sz="1600" b="1" dirty="0"/>
          </a:p>
        </p:txBody>
      </p:sp>
      <p:pic>
        <p:nvPicPr>
          <p:cNvPr id="5" name="Content Placeholder 3"/>
          <p:cNvPicPr>
            <a:picLocks/>
          </p:cNvPicPr>
          <p:nvPr/>
        </p:nvPicPr>
        <p:blipFill>
          <a:blip r:embed="rId2">
            <a:extLst>
              <a:ext uri="{28A0092B-C50C-407E-A947-70E740481C1C}">
                <a14:useLocalDpi xmlns:a14="http://schemas.microsoft.com/office/drawing/2010/main" val="0"/>
              </a:ext>
            </a:extLst>
          </a:blip>
          <a:stretch>
            <a:fillRect/>
          </a:stretch>
        </p:blipFill>
        <p:spPr>
          <a:xfrm>
            <a:off x="5497621" y="3075146"/>
            <a:ext cx="3810000" cy="2857500"/>
          </a:xfrm>
          <a:prstGeom prst="rect">
            <a:avLst/>
          </a:prstGeom>
        </p:spPr>
      </p:pic>
      <p:sp>
        <p:nvSpPr>
          <p:cNvPr id="6" name="TextBox 5"/>
          <p:cNvSpPr txBox="1"/>
          <p:nvPr/>
        </p:nvSpPr>
        <p:spPr>
          <a:xfrm>
            <a:off x="6050071" y="6135175"/>
            <a:ext cx="3390900" cy="923330"/>
          </a:xfrm>
          <a:prstGeom prst="rect">
            <a:avLst/>
          </a:prstGeom>
          <a:noFill/>
        </p:spPr>
        <p:txBody>
          <a:bodyPr wrap="square" rtlCol="0">
            <a:spAutoFit/>
          </a:bodyPr>
          <a:lstStyle/>
          <a:p>
            <a:r>
              <a:rPr lang="en-US" dirty="0"/>
              <a:t>Figure: </a:t>
            </a:r>
            <a:r>
              <a:rPr lang="en-US" dirty="0" err="1"/>
              <a:t>Lalbagh</a:t>
            </a:r>
            <a:r>
              <a:rPr lang="en-US" dirty="0"/>
              <a:t> Fort</a:t>
            </a:r>
          </a:p>
          <a:p>
            <a:endParaRPr lang="en-US" dirty="0"/>
          </a:p>
          <a:p>
            <a:endParaRPr lang="en-US" dirty="0"/>
          </a:p>
        </p:txBody>
      </p:sp>
    </p:spTree>
    <p:extLst>
      <p:ext uri="{BB962C8B-B14F-4D97-AF65-F5344CB8AC3E}">
        <p14:creationId xmlns:p14="http://schemas.microsoft.com/office/powerpoint/2010/main" val="25564125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50" fill="hold"/>
                                        <p:tgtEl>
                                          <p:spTgt spid="6"/>
                                        </p:tgtEl>
                                        <p:attrNameLst>
                                          <p:attrName>ppt_x</p:attrName>
                                        </p:attrNameLst>
                                      </p:cBhvr>
                                      <p:tavLst>
                                        <p:tav tm="0">
                                          <p:val>
                                            <p:strVal val="#ppt_x"/>
                                          </p:val>
                                        </p:tav>
                                        <p:tav tm="100000">
                                          <p:val>
                                            <p:strVal val="#ppt_x"/>
                                          </p:val>
                                        </p:tav>
                                      </p:tavLst>
                                    </p:anim>
                                    <p:anim calcmode="lin" valueType="num">
                                      <p:cBhvr additive="base">
                                        <p:cTn id="12"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7334" y="17396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2.1.3. </a:t>
            </a:r>
            <a:r>
              <a:rPr lang="en-US" b="1" dirty="0"/>
              <a:t>Ahsan </a:t>
            </a:r>
            <a:r>
              <a:rPr lang="en-US" b="1" dirty="0" err="1"/>
              <a:t>Manzil</a:t>
            </a:r>
            <a:r>
              <a:rPr lang="en-US" b="1" dirty="0" smtClean="0"/>
              <a:t>:</a:t>
            </a:r>
            <a:endParaRPr lang="en-US" dirty="0"/>
          </a:p>
        </p:txBody>
      </p:sp>
      <p:sp>
        <p:nvSpPr>
          <p:cNvPr id="6" name="Content Placeholder 5"/>
          <p:cNvSpPr>
            <a:spLocks noGrp="1"/>
          </p:cNvSpPr>
          <p:nvPr>
            <p:ph idx="1"/>
          </p:nvPr>
        </p:nvSpPr>
        <p:spPr>
          <a:xfrm>
            <a:off x="677334" y="640399"/>
            <a:ext cx="8596668" cy="3880773"/>
          </a:xfrm>
        </p:spPr>
        <p:txBody>
          <a:bodyPr/>
          <a:lstStyle/>
          <a:p>
            <a:r>
              <a:rPr lang="en-US" dirty="0"/>
              <a:t>It was the residential palace and the </a:t>
            </a:r>
            <a:r>
              <a:rPr lang="en-US" dirty="0" err="1"/>
              <a:t>kachari</a:t>
            </a:r>
            <a:r>
              <a:rPr lang="en-US" dirty="0"/>
              <a:t> of the </a:t>
            </a:r>
            <a:r>
              <a:rPr lang="en-US" dirty="0" err="1"/>
              <a:t>nawabs</a:t>
            </a:r>
            <a:r>
              <a:rPr lang="en-US" dirty="0"/>
              <a:t> of Dhaka.  It was said to be the Rang Mahal of Sheikh </a:t>
            </a:r>
            <a:r>
              <a:rPr lang="en-US" dirty="0" err="1"/>
              <a:t>Enayetullah</a:t>
            </a:r>
            <a:r>
              <a:rPr lang="en-US" dirty="0"/>
              <a:t>, a </a:t>
            </a:r>
            <a:r>
              <a:rPr lang="en-US" dirty="0" err="1"/>
              <a:t>zamidar</a:t>
            </a:r>
            <a:r>
              <a:rPr lang="en-US" dirty="0"/>
              <a:t> of </a:t>
            </a:r>
            <a:r>
              <a:rPr lang="en-US" dirty="0" err="1"/>
              <a:t>Jamalpur</a:t>
            </a:r>
            <a:r>
              <a:rPr lang="en-US" dirty="0"/>
              <a:t> </a:t>
            </a:r>
            <a:r>
              <a:rPr lang="en-US" dirty="0" err="1"/>
              <a:t>pargana</a:t>
            </a:r>
            <a:r>
              <a:rPr lang="en-US" dirty="0"/>
              <a:t> during the time of the Mughals. Ahsan </a:t>
            </a:r>
            <a:r>
              <a:rPr lang="en-US" dirty="0" err="1"/>
              <a:t>Manzil</a:t>
            </a:r>
            <a:r>
              <a:rPr lang="en-US" dirty="0"/>
              <a:t> is one of the significant architectural monuments of the country. There are porticos of the height of the ground floor, both on the northern and southern sides of the palace. An open spacious stairway has come down from the southern portico, extending </a:t>
            </a:r>
            <a:r>
              <a:rPr lang="en-US" dirty="0" err="1"/>
              <a:t>upto</a:t>
            </a:r>
            <a:r>
              <a:rPr lang="en-US" dirty="0"/>
              <a:t> the bank of the river through the front garden. There was once a fountain in the garden in front of the stairs, though it does not exist today. Ahsan </a:t>
            </a:r>
            <a:r>
              <a:rPr lang="en-US" dirty="0" err="1"/>
              <a:t>Manzil</a:t>
            </a:r>
            <a:r>
              <a:rPr lang="en-US" dirty="0"/>
              <a:t>, an architectural treasure, witnessed many historical events of Bangladesh. From the last part of the 19th century to the initial years of Pakistan, the Muslim leadership of East Bengal emerged from this palace.</a:t>
            </a:r>
          </a:p>
          <a:p>
            <a:r>
              <a:rPr lang="en-US" dirty="0"/>
              <a:t>It is a great artifact from Mughal Period.</a:t>
            </a:r>
          </a:p>
          <a:p>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538152" y="3811270"/>
            <a:ext cx="4079875" cy="2527300"/>
          </a:xfrm>
          <a:prstGeom prst="rect">
            <a:avLst/>
          </a:prstGeom>
        </p:spPr>
      </p:pic>
      <p:sp>
        <p:nvSpPr>
          <p:cNvPr id="7" name="TextBox 6"/>
          <p:cNvSpPr txBox="1"/>
          <p:nvPr/>
        </p:nvSpPr>
        <p:spPr>
          <a:xfrm>
            <a:off x="6350159" y="6438705"/>
            <a:ext cx="3390900" cy="1200329"/>
          </a:xfrm>
          <a:prstGeom prst="rect">
            <a:avLst/>
          </a:prstGeom>
          <a:noFill/>
        </p:spPr>
        <p:txBody>
          <a:bodyPr wrap="square" rtlCol="0">
            <a:spAutoFit/>
          </a:bodyPr>
          <a:lstStyle/>
          <a:p>
            <a:r>
              <a:rPr lang="en-US" dirty="0"/>
              <a:t>Figure: Ahsan </a:t>
            </a:r>
            <a:r>
              <a:rPr lang="en-US" dirty="0" err="1"/>
              <a:t>Manzil</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384936604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15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Cox’s Bazar is one of the most attractive tourist spots &amp; the longest sea beach in the world (approx. 120 km long). Miles of golden sands, towering cliffs, surfing waves, rare conch shells, colorful pagodas, Buddhist temples and tribes, delightful seafood–this is Cox’s Bazar, the tourist capital of Bangladesh</a:t>
            </a:r>
          </a:p>
        </p:txBody>
      </p:sp>
      <p:sp>
        <p:nvSpPr>
          <p:cNvPr id="5" name="TextBox 4"/>
          <p:cNvSpPr txBox="1"/>
          <p:nvPr/>
        </p:nvSpPr>
        <p:spPr>
          <a:xfrm>
            <a:off x="3206975" y="374028"/>
            <a:ext cx="4513474" cy="369332"/>
          </a:xfrm>
          <a:prstGeom prst="rect">
            <a:avLst/>
          </a:prstGeom>
          <a:solidFill>
            <a:srgbClr val="00B050"/>
          </a:solidFill>
        </p:spPr>
        <p:txBody>
          <a:bodyPr wrap="square" rtlCol="0">
            <a:spAutoFit/>
          </a:bodyPr>
          <a:lstStyle/>
          <a:p>
            <a:r>
              <a:rPr lang="en-US" dirty="0" smtClean="0">
                <a:solidFill>
                  <a:schemeClr val="tx1"/>
                </a:solidFill>
              </a:rPr>
              <a:t>2.2. </a:t>
            </a:r>
            <a:r>
              <a:rPr lang="en-US" b="1" dirty="0"/>
              <a:t>Tourists Places In Chittagong:</a:t>
            </a:r>
            <a:endParaRPr lang="en-US" b="1" dirty="0" smtClean="0">
              <a:solidFill>
                <a:schemeClr val="tx1"/>
              </a:solidFill>
            </a:endParaRPr>
          </a:p>
        </p:txBody>
      </p:sp>
      <p:sp>
        <p:nvSpPr>
          <p:cNvPr id="6" name="TextBox 5"/>
          <p:cNvSpPr txBox="1"/>
          <p:nvPr/>
        </p:nvSpPr>
        <p:spPr>
          <a:xfrm>
            <a:off x="677334" y="1552135"/>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2.2.1. </a:t>
            </a:r>
            <a:r>
              <a:rPr lang="en-US" b="1" dirty="0"/>
              <a:t>Cox’s bazar</a:t>
            </a:r>
            <a:r>
              <a:rPr lang="en-US" b="1" dirty="0" smtClean="0"/>
              <a:t>:</a:t>
            </a:r>
            <a:endParaRPr lang="en-US" sz="1600" dirty="0"/>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3206975" y="3454400"/>
            <a:ext cx="3295015" cy="1981200"/>
          </a:xfrm>
          <a:prstGeom prst="rect">
            <a:avLst/>
          </a:prstGeom>
        </p:spPr>
      </p:pic>
      <p:sp>
        <p:nvSpPr>
          <p:cNvPr id="8" name="Rectangle 7"/>
          <p:cNvSpPr/>
          <p:nvPr/>
        </p:nvSpPr>
        <p:spPr>
          <a:xfrm>
            <a:off x="3832375" y="5435600"/>
            <a:ext cx="2044213" cy="410882"/>
          </a:xfrm>
          <a:prstGeom prst="rect">
            <a:avLst/>
          </a:prstGeom>
        </p:spPr>
        <p:txBody>
          <a:bodyPr wrap="none">
            <a:spAutoFit/>
          </a:bodyPr>
          <a:lstStyle/>
          <a:p>
            <a:pPr algn="ct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Figure: Cox’s Bazar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63161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fltVal val="0"/>
                                          </p:val>
                                        </p:tav>
                                        <p:tav tm="100000">
                                          <p:val>
                                            <p:strVal val="#ppt_w"/>
                                          </p:val>
                                        </p:tav>
                                      </p:tavLst>
                                    </p:anim>
                                    <p:anim calcmode="lin" valueType="num">
                                      <p:cBhvr>
                                        <p:cTn id="22" dur="1000" fill="hold"/>
                                        <p:tgtEl>
                                          <p:spTgt spid="8"/>
                                        </p:tgtEl>
                                        <p:attrNameLst>
                                          <p:attrName>ppt_h</p:attrName>
                                        </p:attrNameLst>
                                      </p:cBhvr>
                                      <p:tavLst>
                                        <p:tav tm="0">
                                          <p:val>
                                            <p:fltVal val="0"/>
                                          </p:val>
                                        </p:tav>
                                        <p:tav tm="100000">
                                          <p:val>
                                            <p:strVal val="#ppt_h"/>
                                          </p:val>
                                        </p:tav>
                                      </p:tavLst>
                                    </p:anim>
                                    <p:anim calcmode="lin" valueType="num">
                                      <p:cBhvr>
                                        <p:cTn id="23" dur="1000" fill="hold"/>
                                        <p:tgtEl>
                                          <p:spTgt spid="8"/>
                                        </p:tgtEl>
                                        <p:attrNameLst>
                                          <p:attrName>style.rotation</p:attrName>
                                        </p:attrNameLst>
                                      </p:cBhvr>
                                      <p:tavLst>
                                        <p:tav tm="0">
                                          <p:val>
                                            <p:fltVal val="90"/>
                                          </p:val>
                                        </p:tav>
                                        <p:tav tm="100000">
                                          <p:val>
                                            <p:fltVal val="0"/>
                                          </p:val>
                                        </p:tav>
                                      </p:tavLst>
                                    </p:anim>
                                    <p:animEffect transition="in" filter="fade">
                                      <p:cBhvr>
                                        <p:cTn id="2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788989"/>
            <a:ext cx="8596668" cy="3880773"/>
          </a:xfrm>
        </p:spPr>
        <p:txBody>
          <a:bodyPr/>
          <a:lstStyle/>
          <a:p>
            <a:r>
              <a:rPr lang="en-US" dirty="0"/>
              <a:t>St. Martins Island is the most beautiful Coral Island where you will find live corals. Its only 30 km from </a:t>
            </a:r>
            <a:r>
              <a:rPr lang="en-US" dirty="0" err="1"/>
              <a:t>Teknaf</a:t>
            </a:r>
            <a:r>
              <a:rPr lang="en-US" dirty="0"/>
              <a:t> and you can go there by local motorboat, tourist boats, or sea truck. This small coral island about 10km (6mi) southwest of the southern tip of the mainland is a tropical cliché, with beaches fringed with coconut palms and bountiful marine life. It’s possible to walk around the island in a day because it measures only 8 </a:t>
            </a:r>
            <a:r>
              <a:rPr lang="en-US" dirty="0" err="1"/>
              <a:t>sq</a:t>
            </a:r>
            <a:r>
              <a:rPr lang="en-US" dirty="0"/>
              <a:t> km (3 </a:t>
            </a:r>
            <a:r>
              <a:rPr lang="en-US" dirty="0" err="1"/>
              <a:t>sq</a:t>
            </a:r>
            <a:r>
              <a:rPr lang="en-US" dirty="0"/>
              <a:t> mi), shrinking to about 5 </a:t>
            </a:r>
            <a:r>
              <a:rPr lang="en-US" dirty="0" err="1"/>
              <a:t>sq</a:t>
            </a:r>
            <a:r>
              <a:rPr lang="en-US" dirty="0"/>
              <a:t> km (2 </a:t>
            </a:r>
            <a:r>
              <a:rPr lang="en-US" dirty="0" err="1"/>
              <a:t>sq</a:t>
            </a:r>
            <a:r>
              <a:rPr lang="en-US" dirty="0"/>
              <a:t> mi) during high tide.</a:t>
            </a:r>
          </a:p>
          <a:p>
            <a:endParaRPr lang="en-US" dirty="0"/>
          </a:p>
        </p:txBody>
      </p:sp>
      <p:sp>
        <p:nvSpPr>
          <p:cNvPr id="4" name="TextBox 3"/>
          <p:cNvSpPr txBox="1"/>
          <p:nvPr/>
        </p:nvSpPr>
        <p:spPr>
          <a:xfrm>
            <a:off x="660524" y="256735"/>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2.2.2. </a:t>
            </a:r>
            <a:r>
              <a:rPr lang="en-US" b="1" dirty="0"/>
              <a:t>Saint Martins Island</a:t>
            </a:r>
            <a:r>
              <a:rPr lang="en-US" b="1" dirty="0" smtClean="0"/>
              <a:t>:</a:t>
            </a:r>
            <a:endParaRPr lang="en-US" sz="1600"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207067" y="2967990"/>
            <a:ext cx="3872865" cy="2446020"/>
          </a:xfrm>
          <a:prstGeom prst="rect">
            <a:avLst/>
          </a:prstGeom>
        </p:spPr>
      </p:pic>
      <p:sp>
        <p:nvSpPr>
          <p:cNvPr id="7" name="Rectangle 6"/>
          <p:cNvSpPr/>
          <p:nvPr/>
        </p:nvSpPr>
        <p:spPr>
          <a:xfrm>
            <a:off x="3752733" y="5414010"/>
            <a:ext cx="2781531" cy="410882"/>
          </a:xfrm>
          <a:prstGeom prst="rect">
            <a:avLst/>
          </a:prstGeom>
        </p:spPr>
        <p:txBody>
          <a:bodyPr wrap="none">
            <a:spAutoFit/>
          </a:bodyPr>
          <a:lstStyle/>
          <a:p>
            <a:pPr algn="ct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Figure: Saint Martins Island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09860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2847" y="1523467"/>
            <a:ext cx="8596668" cy="3880773"/>
          </a:xfrm>
        </p:spPr>
        <p:txBody>
          <a:bodyPr/>
          <a:lstStyle/>
          <a:p>
            <a:r>
              <a:rPr lang="en-US" dirty="0"/>
              <a:t>The famous </a:t>
            </a:r>
            <a:r>
              <a:rPr lang="en-US" dirty="0" err="1"/>
              <a:t>Chandranath</a:t>
            </a:r>
            <a:r>
              <a:rPr lang="en-US" dirty="0"/>
              <a:t> Temple &amp; Buddhist temples are in </a:t>
            </a:r>
            <a:r>
              <a:rPr lang="en-US" dirty="0" err="1"/>
              <a:t>Sitakundu</a:t>
            </a:r>
            <a:r>
              <a:rPr lang="en-US" dirty="0"/>
              <a:t>, 37 km for from Chittagong city. Famous among the many temples in this place, the </a:t>
            </a:r>
            <a:r>
              <a:rPr lang="en-US" dirty="0" err="1"/>
              <a:t>Chandranath</a:t>
            </a:r>
            <a:r>
              <a:rPr lang="en-US" dirty="0"/>
              <a:t> Temple and the Buddhist Temple has a footprint of Lord Buddha. These places particularly the hilltops are regarded as very sacred by the Buddhists and the Hindus. Siva-</a:t>
            </a:r>
            <a:r>
              <a:rPr lang="en-US" dirty="0" err="1"/>
              <a:t>chaturdashi</a:t>
            </a:r>
            <a:r>
              <a:rPr lang="en-US" dirty="0"/>
              <a:t> festival is held every year in February when thousands of pilgrims assemble for the celebrations, which last about ten days.</a:t>
            </a:r>
          </a:p>
          <a:p>
            <a:endParaRPr lang="en-US" b="1"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3534025" y="3581970"/>
            <a:ext cx="3476375" cy="2007029"/>
          </a:xfrm>
          <a:prstGeom prst="rect">
            <a:avLst/>
          </a:prstGeom>
        </p:spPr>
      </p:pic>
      <p:sp>
        <p:nvSpPr>
          <p:cNvPr id="5" name="Rectangle 4"/>
          <p:cNvSpPr/>
          <p:nvPr/>
        </p:nvSpPr>
        <p:spPr>
          <a:xfrm>
            <a:off x="3355918" y="5588999"/>
            <a:ext cx="3832588" cy="410882"/>
          </a:xfrm>
          <a:prstGeom prst="rect">
            <a:avLst/>
          </a:prstGeom>
        </p:spPr>
        <p:txBody>
          <a:bodyPr wrap="none">
            <a:spAutoFit/>
          </a:bodyPr>
          <a:lstStyle/>
          <a:p>
            <a:pPr algn="ct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Figure: </a:t>
            </a:r>
            <a:r>
              <a:rPr lang="en-US" dirty="0" err="1">
                <a:latin typeface="Times New Roman" panose="02020603050405020304" pitchFamily="18" charset="0"/>
                <a:ea typeface="Calibri" panose="020F0502020204030204" pitchFamily="34" charset="0"/>
                <a:cs typeface="Times New Roman" panose="02020603050405020304" pitchFamily="18" charset="0"/>
              </a:rPr>
              <a:t>Chandranath</a:t>
            </a:r>
            <a:r>
              <a:rPr lang="en-US" dirty="0">
                <a:latin typeface="Times New Roman" panose="02020603050405020304" pitchFamily="18" charset="0"/>
                <a:ea typeface="Calibri" panose="020F0502020204030204" pitchFamily="34" charset="0"/>
                <a:cs typeface="Times New Roman" panose="02020603050405020304" pitchFamily="18" charset="0"/>
              </a:rPr>
              <a:t> Temple Hill Track</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p:cNvSpPr txBox="1"/>
          <p:nvPr/>
        </p:nvSpPr>
        <p:spPr>
          <a:xfrm>
            <a:off x="602847" y="83291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2.2.3. </a:t>
            </a:r>
            <a:r>
              <a:rPr lang="en-US" b="1" dirty="0" err="1"/>
              <a:t>Sitakundo</a:t>
            </a:r>
            <a:r>
              <a:rPr lang="en-US" b="1" dirty="0"/>
              <a:t> Hill Tracks</a:t>
            </a:r>
            <a:r>
              <a:rPr lang="en-US" b="1" dirty="0" smtClean="0"/>
              <a:t>:</a:t>
            </a:r>
            <a:endParaRPr lang="en-US" dirty="0"/>
          </a:p>
        </p:txBody>
      </p:sp>
    </p:spTree>
    <p:extLst>
      <p:ext uri="{BB962C8B-B14F-4D97-AF65-F5344CB8AC3E}">
        <p14:creationId xmlns:p14="http://schemas.microsoft.com/office/powerpoint/2010/main" val="9176530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334" y="1182689"/>
            <a:ext cx="8596668" cy="3880773"/>
          </a:xfrm>
        </p:spPr>
        <p:txBody>
          <a:bodyPr/>
          <a:lstStyle/>
          <a:p>
            <a:r>
              <a:rPr lang="en-US" dirty="0" err="1"/>
              <a:t>Rangamati</a:t>
            </a:r>
            <a:r>
              <a:rPr lang="en-US" dirty="0"/>
              <a:t>, a lush and verdant rural area belonging to the Chakma tribe, is open to visitors, as is </a:t>
            </a:r>
            <a:r>
              <a:rPr lang="en-US" dirty="0" err="1"/>
              <a:t>Kaptai</a:t>
            </a:r>
            <a:r>
              <a:rPr lang="en-US" dirty="0"/>
              <a:t> Lake. The lake, ringed by thick tropical and semi-evergreen forests, looks like nothing else in Bangladesh. </a:t>
            </a:r>
            <a:r>
              <a:rPr lang="en-US" dirty="0" err="1"/>
              <a:t>Rangamati</a:t>
            </a:r>
            <a:r>
              <a:rPr lang="en-US" dirty="0"/>
              <a:t> is a big portion of natural beauties of Bangladesh. From Chittagong a 77 km. road amidst green fields and winding hills will take you to </a:t>
            </a:r>
            <a:r>
              <a:rPr lang="en-US" dirty="0" err="1"/>
              <a:t>Rangamati</a:t>
            </a:r>
            <a:r>
              <a:rPr lang="en-US" dirty="0"/>
              <a:t>. It is also connected by waterway from </a:t>
            </a:r>
            <a:r>
              <a:rPr lang="en-US" dirty="0" err="1"/>
              <a:t>Kaptai</a:t>
            </a:r>
            <a:r>
              <a:rPr lang="en-US" dirty="0"/>
              <a:t>.</a:t>
            </a: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2914967" y="3123075"/>
            <a:ext cx="4330065" cy="2435860"/>
          </a:xfrm>
          <a:prstGeom prst="rect">
            <a:avLst/>
          </a:prstGeom>
        </p:spPr>
      </p:pic>
      <p:sp>
        <p:nvSpPr>
          <p:cNvPr id="5" name="Rectangle 4"/>
          <p:cNvSpPr/>
          <p:nvPr/>
        </p:nvSpPr>
        <p:spPr>
          <a:xfrm>
            <a:off x="4057924" y="5683202"/>
            <a:ext cx="2044149" cy="410882"/>
          </a:xfrm>
          <a:prstGeom prst="rect">
            <a:avLst/>
          </a:prstGeom>
        </p:spPr>
        <p:txBody>
          <a:bodyPr wrap="none">
            <a:spAutoFit/>
          </a:bodyPr>
          <a:lstStyle/>
          <a:p>
            <a:pPr algn="ct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Figure: </a:t>
            </a:r>
            <a:r>
              <a:rPr lang="en-US" dirty="0" err="1">
                <a:latin typeface="Times New Roman" panose="02020603050405020304" pitchFamily="18" charset="0"/>
                <a:ea typeface="Calibri" panose="020F0502020204030204" pitchFamily="34" charset="0"/>
                <a:cs typeface="Times New Roman" panose="02020603050405020304" pitchFamily="18" charset="0"/>
              </a:rPr>
              <a:t>Kaptai</a:t>
            </a:r>
            <a:r>
              <a:rPr lang="en-US" dirty="0">
                <a:latin typeface="Times New Roman" panose="02020603050405020304" pitchFamily="18" charset="0"/>
                <a:ea typeface="Calibri" panose="020F0502020204030204" pitchFamily="34" charset="0"/>
                <a:cs typeface="Times New Roman" panose="02020603050405020304" pitchFamily="18" charset="0"/>
              </a:rPr>
              <a:t> Lake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2.2.4. </a:t>
            </a:r>
            <a:r>
              <a:rPr lang="en-US" b="1" dirty="0" err="1"/>
              <a:t>Rangamati</a:t>
            </a:r>
            <a:r>
              <a:rPr lang="en-US" b="1" dirty="0" smtClean="0"/>
              <a:t>:</a:t>
            </a:r>
            <a:endParaRPr lang="en-US" dirty="0"/>
          </a:p>
        </p:txBody>
      </p:sp>
    </p:spTree>
    <p:extLst>
      <p:ext uri="{BB962C8B-B14F-4D97-AF65-F5344CB8AC3E}">
        <p14:creationId xmlns:p14="http://schemas.microsoft.com/office/powerpoint/2010/main" val="33596960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373189"/>
            <a:ext cx="8596668" cy="3880773"/>
          </a:xfrm>
        </p:spPr>
        <p:txBody>
          <a:bodyPr/>
          <a:lstStyle/>
          <a:p>
            <a:r>
              <a:rPr lang="en-US" dirty="0" err="1" smtClean="0"/>
              <a:t>Sajek</a:t>
            </a:r>
            <a:r>
              <a:rPr lang="en-US" dirty="0" smtClean="0"/>
              <a:t> </a:t>
            </a:r>
            <a:r>
              <a:rPr lang="en-US" dirty="0"/>
              <a:t>Valley is an emerging tourist spot in Bangladesh situated among the hills of the </a:t>
            </a:r>
            <a:r>
              <a:rPr lang="en-US" dirty="0" err="1"/>
              <a:t>Kasalong</a:t>
            </a:r>
            <a:r>
              <a:rPr lang="en-US" dirty="0"/>
              <a:t> range of mountains in </a:t>
            </a:r>
            <a:r>
              <a:rPr lang="en-US" dirty="0" err="1"/>
              <a:t>Sajek</a:t>
            </a:r>
            <a:r>
              <a:rPr lang="en-US" dirty="0"/>
              <a:t> union, </a:t>
            </a:r>
            <a:r>
              <a:rPr lang="en-US" dirty="0" err="1"/>
              <a:t>Baghaichhari</a:t>
            </a:r>
            <a:r>
              <a:rPr lang="en-US" dirty="0"/>
              <a:t> </a:t>
            </a:r>
            <a:r>
              <a:rPr lang="en-US" dirty="0" err="1"/>
              <a:t>Upazila</a:t>
            </a:r>
            <a:r>
              <a:rPr lang="en-US" dirty="0"/>
              <a:t> in </a:t>
            </a:r>
            <a:r>
              <a:rPr lang="en-US" dirty="0" err="1"/>
              <a:t>Rangamati</a:t>
            </a:r>
            <a:r>
              <a:rPr lang="en-US" dirty="0"/>
              <a:t> District. The valley is 1,476 feet (450 m) above sea level. </a:t>
            </a:r>
            <a:r>
              <a:rPr lang="en-US" dirty="0" err="1"/>
              <a:t>Sajek</a:t>
            </a:r>
            <a:r>
              <a:rPr lang="en-US" dirty="0"/>
              <a:t> valley is known as the Queen of Hills &amp; Roof of </a:t>
            </a:r>
            <a:r>
              <a:rPr lang="en-US" dirty="0" err="1"/>
              <a:t>Rangamati</a:t>
            </a:r>
            <a:r>
              <a:rPr lang="en-US" dirty="0"/>
              <a:t>.</a:t>
            </a:r>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3282017" y="2792742"/>
            <a:ext cx="3846830" cy="2444750"/>
          </a:xfrm>
          <a:prstGeom prst="rect">
            <a:avLst/>
          </a:prstGeom>
        </p:spPr>
      </p:pic>
      <p:sp>
        <p:nvSpPr>
          <p:cNvPr id="5" name="Rectangle 4"/>
          <p:cNvSpPr/>
          <p:nvPr/>
        </p:nvSpPr>
        <p:spPr>
          <a:xfrm>
            <a:off x="4172585" y="5310277"/>
            <a:ext cx="2065694" cy="410882"/>
          </a:xfrm>
          <a:prstGeom prst="rect">
            <a:avLst/>
          </a:prstGeom>
        </p:spPr>
        <p:txBody>
          <a:bodyPr wrap="none">
            <a:spAutoFit/>
          </a:bodyPr>
          <a:lstStyle/>
          <a:p>
            <a:pPr algn="ct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Figure: </a:t>
            </a:r>
            <a:r>
              <a:rPr lang="en-US" dirty="0" err="1">
                <a:latin typeface="Times New Roman" panose="02020603050405020304" pitchFamily="18" charset="0"/>
                <a:ea typeface="Calibri" panose="020F0502020204030204" pitchFamily="34" charset="0"/>
                <a:cs typeface="Times New Roman" panose="02020603050405020304" pitchFamily="18" charset="0"/>
              </a:rPr>
              <a:t>Sajek</a:t>
            </a:r>
            <a:r>
              <a:rPr lang="en-US" dirty="0">
                <a:latin typeface="Times New Roman" panose="02020603050405020304" pitchFamily="18" charset="0"/>
                <a:ea typeface="Calibri" panose="020F0502020204030204" pitchFamily="34" charset="0"/>
                <a:cs typeface="Times New Roman" panose="02020603050405020304" pitchFamily="18" charset="0"/>
              </a:rPr>
              <a:t> Valley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smtClean="0"/>
              <a:t>Sajek</a:t>
            </a:r>
            <a:r>
              <a:rPr lang="en-US" b="1" dirty="0" smtClean="0"/>
              <a:t> Valley:</a:t>
            </a:r>
            <a:endParaRPr lang="en-US" dirty="0"/>
          </a:p>
        </p:txBody>
      </p:sp>
    </p:spTree>
    <p:extLst>
      <p:ext uri="{BB962C8B-B14F-4D97-AF65-F5344CB8AC3E}">
        <p14:creationId xmlns:p14="http://schemas.microsoft.com/office/powerpoint/2010/main" val="8305127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411289"/>
            <a:ext cx="8596668" cy="3880773"/>
          </a:xfrm>
        </p:spPr>
        <p:txBody>
          <a:bodyPr/>
          <a:lstStyle/>
          <a:p>
            <a:r>
              <a:rPr lang="en-US" b="1" dirty="0"/>
              <a:t>Boga Lake:</a:t>
            </a:r>
            <a:r>
              <a:rPr lang="en-US" dirty="0"/>
              <a:t> </a:t>
            </a:r>
            <a:r>
              <a:rPr lang="en-US" dirty="0" err="1"/>
              <a:t>Bagakain</a:t>
            </a:r>
            <a:r>
              <a:rPr lang="en-US" dirty="0"/>
              <a:t> Lake or Boga Lake is one of the most magnificent lakes in the country.  This 15-acre wide natural lake is about 18 km far from </a:t>
            </a:r>
            <a:r>
              <a:rPr lang="en-US" dirty="0" err="1"/>
              <a:t>Ruma</a:t>
            </a:r>
            <a:r>
              <a:rPr lang="en-US" dirty="0"/>
              <a:t> </a:t>
            </a:r>
            <a:r>
              <a:rPr lang="en-US" dirty="0" err="1"/>
              <a:t>Sadar</a:t>
            </a:r>
            <a:r>
              <a:rPr lang="en-US" dirty="0"/>
              <a:t> </a:t>
            </a:r>
            <a:r>
              <a:rPr lang="en-US" dirty="0" err="1"/>
              <a:t>Upazila</a:t>
            </a:r>
            <a:r>
              <a:rPr lang="en-US" dirty="0"/>
              <a:t> under </a:t>
            </a:r>
            <a:r>
              <a:rPr lang="en-US" dirty="0" err="1"/>
              <a:t>Bandarban</a:t>
            </a:r>
            <a:r>
              <a:rPr lang="en-US" dirty="0"/>
              <a:t>. Placed about 3000 feet high above the sea-level, Boga Lake fascinates visitors with blue water, big rocks, surrounding greenery, local tribal communities, etc. It is believed that Boga Lake was created by an earthquake that occurred 2000 years ago.</a:t>
            </a:r>
          </a:p>
          <a:p>
            <a:endParaRPr lang="en-US" dirty="0"/>
          </a:p>
        </p:txBody>
      </p:sp>
      <p:sp>
        <p:nvSpPr>
          <p:cNvPr id="4" name="TextBox 3"/>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2.2.5. </a:t>
            </a:r>
            <a:r>
              <a:rPr lang="en-US" b="1" dirty="0" err="1"/>
              <a:t>Bandarban</a:t>
            </a:r>
            <a:r>
              <a:rPr lang="en-US" b="1" dirty="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934807" y="3223559"/>
            <a:ext cx="3821430" cy="2147570"/>
          </a:xfrm>
          <a:prstGeom prst="rect">
            <a:avLst/>
          </a:prstGeom>
        </p:spPr>
      </p:pic>
      <p:sp>
        <p:nvSpPr>
          <p:cNvPr id="7" name="Rectangle 6"/>
          <p:cNvSpPr/>
          <p:nvPr/>
        </p:nvSpPr>
        <p:spPr>
          <a:xfrm>
            <a:off x="3887567" y="5368888"/>
            <a:ext cx="1915909" cy="410882"/>
          </a:xfrm>
          <a:prstGeom prst="rect">
            <a:avLst/>
          </a:prstGeom>
        </p:spPr>
        <p:txBody>
          <a:bodyPr wrap="none">
            <a:spAutoFit/>
          </a:bodyPr>
          <a:lstStyle/>
          <a:p>
            <a:pPr algn="ctr">
              <a:lnSpc>
                <a:spcPct val="115000"/>
              </a:lnSpc>
              <a:spcAft>
                <a:spcPts val="2100"/>
              </a:spcAft>
            </a:pPr>
            <a:r>
              <a:rPr lang="en-US" dirty="0">
                <a:latin typeface="Times New Roman" panose="02020603050405020304" pitchFamily="18" charset="0"/>
                <a:ea typeface="Times New Roman" panose="02020603050405020304" pitchFamily="18" charset="0"/>
              </a:rPr>
              <a:t>Figure: Boga Lake</a:t>
            </a:r>
          </a:p>
        </p:txBody>
      </p:sp>
    </p:spTree>
    <p:extLst>
      <p:ext uri="{BB962C8B-B14F-4D97-AF65-F5344CB8AC3E}">
        <p14:creationId xmlns:p14="http://schemas.microsoft.com/office/powerpoint/2010/main" val="24811645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284289"/>
            <a:ext cx="8596668" cy="3880773"/>
          </a:xfrm>
        </p:spPr>
        <p:txBody>
          <a:bodyPr/>
          <a:lstStyle/>
          <a:p>
            <a:r>
              <a:rPr lang="en-US" dirty="0" err="1"/>
              <a:t>Tajingdong</a:t>
            </a:r>
            <a:r>
              <a:rPr lang="en-US" dirty="0"/>
              <a:t> Mountain is located at </a:t>
            </a:r>
            <a:r>
              <a:rPr lang="en-US" dirty="0" err="1"/>
              <a:t>Remakri</a:t>
            </a:r>
            <a:r>
              <a:rPr lang="en-US" dirty="0"/>
              <a:t> </a:t>
            </a:r>
            <a:r>
              <a:rPr lang="en-US" dirty="0" err="1"/>
              <a:t>Pangsha</a:t>
            </a:r>
            <a:r>
              <a:rPr lang="en-US" dirty="0"/>
              <a:t> union in </a:t>
            </a:r>
            <a:r>
              <a:rPr lang="en-US" dirty="0" err="1"/>
              <a:t>Ruma</a:t>
            </a:r>
            <a:r>
              <a:rPr lang="en-US" dirty="0"/>
              <a:t> </a:t>
            </a:r>
            <a:r>
              <a:rPr lang="en-US" dirty="0" err="1"/>
              <a:t>Upazila</a:t>
            </a:r>
            <a:r>
              <a:rPr lang="en-US" dirty="0"/>
              <a:t> under </a:t>
            </a:r>
            <a:r>
              <a:rPr lang="en-US" dirty="0" err="1"/>
              <a:t>Bandarban</a:t>
            </a:r>
            <a:r>
              <a:rPr lang="en-US" dirty="0"/>
              <a:t> Hill District. In local tribal dialect “</a:t>
            </a:r>
            <a:r>
              <a:rPr lang="en-US" dirty="0" err="1"/>
              <a:t>Tajing</a:t>
            </a:r>
            <a:r>
              <a:rPr lang="en-US" dirty="0"/>
              <a:t>” means ‘Great’ and the ‘Dong’ means ‘Hill’. So the whole word stands for “Great hill”. </a:t>
            </a:r>
            <a:r>
              <a:rPr lang="en-US" dirty="0" err="1"/>
              <a:t>Tajingdong</a:t>
            </a:r>
            <a:r>
              <a:rPr lang="en-US" dirty="0"/>
              <a:t> is also popular as “</a:t>
            </a:r>
            <a:r>
              <a:rPr lang="en-US" dirty="0" err="1"/>
              <a:t>Bijoy</a:t>
            </a:r>
            <a:r>
              <a:rPr lang="en-US" dirty="0"/>
              <a:t>”. Adventure tourists love to explore </a:t>
            </a:r>
            <a:r>
              <a:rPr lang="en-US" dirty="0" err="1"/>
              <a:t>Tajingdon</a:t>
            </a:r>
            <a:r>
              <a:rPr lang="en-US" dirty="0"/>
              <a:t> during the winter season. This mountain will amaze you with diverse natural beauties, like hide-and-seek of clouds on the hill-top, dense forests, hills and mountains, wildlife, zigzagging paths over the green hill, natural springs, hilly roadside, and the surrounding inhabitants’ simple lifestyle, tradition, and culture.</a:t>
            </a:r>
          </a:p>
          <a:p>
            <a:endParaRPr lang="en-US" dirty="0"/>
          </a:p>
        </p:txBody>
      </p:sp>
      <p:sp>
        <p:nvSpPr>
          <p:cNvPr id="4" name="TextBox 3"/>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Tajing</a:t>
            </a:r>
            <a:r>
              <a:rPr lang="en-US" b="1" dirty="0"/>
              <a:t> Dong:</a:t>
            </a:r>
            <a:r>
              <a:rPr lang="en-US" dirty="0"/>
              <a:t> </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375977" y="3863975"/>
            <a:ext cx="3458845" cy="2127250"/>
          </a:xfrm>
          <a:prstGeom prst="rect">
            <a:avLst/>
          </a:prstGeom>
        </p:spPr>
      </p:pic>
      <p:sp>
        <p:nvSpPr>
          <p:cNvPr id="6" name="Rectangle 5"/>
          <p:cNvSpPr/>
          <p:nvPr/>
        </p:nvSpPr>
        <p:spPr>
          <a:xfrm>
            <a:off x="4016511" y="5991225"/>
            <a:ext cx="2177776" cy="410882"/>
          </a:xfrm>
          <a:prstGeom prst="rect">
            <a:avLst/>
          </a:prstGeom>
        </p:spPr>
        <p:txBody>
          <a:bodyPr wrap="none">
            <a:spAutoFit/>
          </a:bodyPr>
          <a:lstStyle/>
          <a:p>
            <a:pPr algn="ctr">
              <a:lnSpc>
                <a:spcPct val="115000"/>
              </a:lnSpc>
              <a:spcAft>
                <a:spcPts val="2100"/>
              </a:spcAft>
            </a:pPr>
            <a:r>
              <a:rPr lang="en-US" dirty="0">
                <a:latin typeface="Times New Roman" panose="02020603050405020304" pitchFamily="18" charset="0"/>
                <a:ea typeface="Times New Roman" panose="02020603050405020304" pitchFamily="18" charset="0"/>
              </a:rPr>
              <a:t>Figure: </a:t>
            </a:r>
            <a:r>
              <a:rPr lang="en-US" dirty="0" err="1">
                <a:latin typeface="Times New Roman" panose="02020603050405020304" pitchFamily="18" charset="0"/>
                <a:ea typeface="Times New Roman" panose="02020603050405020304" pitchFamily="18" charset="0"/>
              </a:rPr>
              <a:t>Tanjing</a:t>
            </a:r>
            <a:r>
              <a:rPr lang="en-US" dirty="0">
                <a:latin typeface="Times New Roman" panose="02020603050405020304" pitchFamily="18" charset="0"/>
                <a:ea typeface="Times New Roman" panose="02020603050405020304" pitchFamily="18" charset="0"/>
              </a:rPr>
              <a:t> Dong</a:t>
            </a:r>
          </a:p>
        </p:txBody>
      </p:sp>
    </p:spTree>
    <p:extLst>
      <p:ext uri="{BB962C8B-B14F-4D97-AF65-F5344CB8AC3E}">
        <p14:creationId xmlns:p14="http://schemas.microsoft.com/office/powerpoint/2010/main" val="8916831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4143" y="1677287"/>
            <a:ext cx="8596668" cy="3880773"/>
          </a:xfrm>
        </p:spPr>
        <p:txBody>
          <a:bodyPr/>
          <a:lstStyle/>
          <a:p>
            <a:r>
              <a:rPr lang="en-US" dirty="0"/>
              <a:t>It is said that Buddhism is the religion of peace. </a:t>
            </a:r>
            <a:r>
              <a:rPr lang="en-US" dirty="0" err="1"/>
              <a:t>Bandarban</a:t>
            </a:r>
            <a:r>
              <a:rPr lang="en-US" dirty="0"/>
              <a:t> is the pious hub of Theravada Buddhism practiced by tribal communities like </a:t>
            </a:r>
            <a:r>
              <a:rPr lang="en-US" dirty="0" err="1"/>
              <a:t>Marma</a:t>
            </a:r>
            <a:r>
              <a:rPr lang="en-US" dirty="0"/>
              <a:t> or </a:t>
            </a:r>
            <a:r>
              <a:rPr lang="en-US" dirty="0" err="1"/>
              <a:t>Mogh</a:t>
            </a:r>
            <a:r>
              <a:rPr lang="en-US" dirty="0"/>
              <a:t>. Here you will find </a:t>
            </a:r>
            <a:r>
              <a:rPr lang="en-US" dirty="0">
                <a:hlinkClick r:id="rId2"/>
              </a:rPr>
              <a:t>Buddha </a:t>
            </a:r>
            <a:r>
              <a:rPr lang="en-US" dirty="0" err="1">
                <a:hlinkClick r:id="rId2"/>
              </a:rPr>
              <a:t>Dhatu</a:t>
            </a:r>
            <a:r>
              <a:rPr lang="en-US" dirty="0">
                <a:hlinkClick r:id="rId2"/>
              </a:rPr>
              <a:t> </a:t>
            </a:r>
            <a:r>
              <a:rPr lang="en-US" dirty="0" err="1">
                <a:hlinkClick r:id="rId2"/>
              </a:rPr>
              <a:t>Jadi</a:t>
            </a:r>
            <a:r>
              <a:rPr lang="en-US" dirty="0"/>
              <a:t>, the largest Theravada Buddhist Temple of Bangladesh and the second biggest Buddha sculpture in the country. This Buddhist temple is called ‘</a:t>
            </a:r>
            <a:r>
              <a:rPr lang="en-US" dirty="0" err="1"/>
              <a:t>kyang</a:t>
            </a:r>
            <a:r>
              <a:rPr lang="en-US" dirty="0"/>
              <a:t>’ in the local language. It is also popular as the ‘</a:t>
            </a:r>
            <a:r>
              <a:rPr lang="en-US" dirty="0" err="1"/>
              <a:t>Bandarban</a:t>
            </a:r>
            <a:r>
              <a:rPr lang="en-US" dirty="0"/>
              <a:t> Golden Temple’ to the tourists.</a:t>
            </a:r>
          </a:p>
          <a:p>
            <a:endParaRPr lang="en-US" b="1" dirty="0"/>
          </a:p>
        </p:txBody>
      </p:sp>
      <p:sp>
        <p:nvSpPr>
          <p:cNvPr id="5" name="TextBox 4"/>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Bandarban</a:t>
            </a:r>
            <a:r>
              <a:rPr lang="en-US" b="1" dirty="0"/>
              <a:t> Golden Temple</a:t>
            </a:r>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177347" y="3669570"/>
            <a:ext cx="3596640" cy="1888490"/>
          </a:xfrm>
          <a:prstGeom prst="rect">
            <a:avLst/>
          </a:prstGeom>
        </p:spPr>
      </p:pic>
      <p:sp>
        <p:nvSpPr>
          <p:cNvPr id="7" name="Rectangle 6"/>
          <p:cNvSpPr/>
          <p:nvPr/>
        </p:nvSpPr>
        <p:spPr>
          <a:xfrm>
            <a:off x="3826645" y="5560946"/>
            <a:ext cx="2331664" cy="410882"/>
          </a:xfrm>
          <a:prstGeom prst="rect">
            <a:avLst/>
          </a:prstGeom>
        </p:spPr>
        <p:txBody>
          <a:bodyPr wrap="none">
            <a:spAutoFit/>
          </a:bodyPr>
          <a:lstStyle/>
          <a:p>
            <a:pPr algn="ctr">
              <a:lnSpc>
                <a:spcPct val="115000"/>
              </a:lnSpc>
              <a:spcAft>
                <a:spcPts val="2100"/>
              </a:spcAft>
            </a:pPr>
            <a:r>
              <a:rPr lang="en-US" dirty="0">
                <a:latin typeface="Times New Roman" panose="02020603050405020304" pitchFamily="18" charset="0"/>
                <a:ea typeface="Times New Roman" panose="02020603050405020304" pitchFamily="18" charset="0"/>
              </a:rPr>
              <a:t>Figure: Golden Temple</a:t>
            </a:r>
          </a:p>
        </p:txBody>
      </p:sp>
    </p:spTree>
    <p:extLst>
      <p:ext uri="{BB962C8B-B14F-4D97-AF65-F5344CB8AC3E}">
        <p14:creationId xmlns:p14="http://schemas.microsoft.com/office/powerpoint/2010/main" val="32141406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391729"/>
            <a:ext cx="8596668" cy="3880773"/>
          </a:xfrm>
        </p:spPr>
        <p:txBody>
          <a:bodyPr/>
          <a:lstStyle/>
          <a:p>
            <a:r>
              <a:rPr lang="en-US" dirty="0" err="1"/>
              <a:t>Nafakhum</a:t>
            </a:r>
            <a:r>
              <a:rPr lang="en-US" dirty="0"/>
              <a:t> is also called the </a:t>
            </a:r>
            <a:r>
              <a:rPr lang="en-US" dirty="0" err="1"/>
              <a:t>Remakri</a:t>
            </a:r>
            <a:r>
              <a:rPr lang="en-US" dirty="0"/>
              <a:t> waterfall. </a:t>
            </a:r>
            <a:r>
              <a:rPr lang="en-US" dirty="0" err="1"/>
              <a:t>Nafakhum</a:t>
            </a:r>
            <a:r>
              <a:rPr lang="en-US" dirty="0"/>
              <a:t> falls under the unruly hilly river </a:t>
            </a:r>
            <a:r>
              <a:rPr lang="en-US" dirty="0" err="1"/>
              <a:t>Sangu</a:t>
            </a:r>
            <a:r>
              <a:rPr lang="en-US" dirty="0"/>
              <a:t> at </a:t>
            </a:r>
            <a:r>
              <a:rPr lang="en-US" dirty="0" err="1"/>
              <a:t>Remakri</a:t>
            </a:r>
            <a:r>
              <a:rPr lang="en-US" dirty="0"/>
              <a:t> in </a:t>
            </a:r>
            <a:r>
              <a:rPr lang="en-US" dirty="0" err="1"/>
              <a:t>Thanchi</a:t>
            </a:r>
            <a:r>
              <a:rPr lang="en-US" dirty="0"/>
              <a:t> </a:t>
            </a:r>
            <a:r>
              <a:rPr lang="en-US" dirty="0" err="1"/>
              <a:t>Upazila</a:t>
            </a:r>
            <a:r>
              <a:rPr lang="en-US" dirty="0"/>
              <a:t> of </a:t>
            </a:r>
            <a:r>
              <a:rPr lang="en-US" dirty="0" err="1"/>
              <a:t>Bandarban</a:t>
            </a:r>
            <a:r>
              <a:rPr lang="en-US" dirty="0"/>
              <a:t> Hill District. In this natural waterfall, a heavy flow of water pours down with great power, sound, and volume declaring pride and grandeur. Not to mention, </a:t>
            </a:r>
            <a:r>
              <a:rPr lang="en-US" dirty="0" err="1"/>
              <a:t>Nafakhum</a:t>
            </a:r>
            <a:r>
              <a:rPr lang="en-US" dirty="0"/>
              <a:t> is one of the most voluminous natural cascades in Bangladesh.</a:t>
            </a: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3690302" y="3048993"/>
            <a:ext cx="3338195" cy="2503805"/>
          </a:xfrm>
          <a:prstGeom prst="rect">
            <a:avLst/>
          </a:prstGeom>
        </p:spPr>
      </p:pic>
      <p:sp>
        <p:nvSpPr>
          <p:cNvPr id="5" name="Rectangle 4"/>
          <p:cNvSpPr/>
          <p:nvPr/>
        </p:nvSpPr>
        <p:spPr>
          <a:xfrm>
            <a:off x="3956409" y="5552798"/>
            <a:ext cx="2790957" cy="410882"/>
          </a:xfrm>
          <a:prstGeom prst="rect">
            <a:avLst/>
          </a:prstGeom>
        </p:spPr>
        <p:txBody>
          <a:bodyPr wrap="none">
            <a:spAutoFit/>
          </a:bodyPr>
          <a:lstStyle/>
          <a:p>
            <a:pPr algn="ctr">
              <a:lnSpc>
                <a:spcPct val="115000"/>
              </a:lnSpc>
              <a:spcAft>
                <a:spcPts val="2100"/>
              </a:spcAft>
            </a:pPr>
            <a:r>
              <a:rPr lang="en-US" dirty="0">
                <a:latin typeface="Times New Roman" panose="02020603050405020304" pitchFamily="18" charset="0"/>
                <a:ea typeface="Times New Roman" panose="02020603050405020304" pitchFamily="18" charset="0"/>
              </a:rPr>
              <a:t>Figure: </a:t>
            </a:r>
            <a:r>
              <a:rPr lang="en-US" dirty="0" err="1">
                <a:latin typeface="Times New Roman" panose="02020603050405020304" pitchFamily="18" charset="0"/>
                <a:ea typeface="Times New Roman" panose="02020603050405020304" pitchFamily="18" charset="0"/>
              </a:rPr>
              <a:t>Nafakhum</a:t>
            </a:r>
            <a:r>
              <a:rPr lang="en-US" dirty="0">
                <a:latin typeface="Times New Roman" panose="02020603050405020304" pitchFamily="18" charset="0"/>
                <a:ea typeface="Times New Roman" panose="02020603050405020304" pitchFamily="18" charset="0"/>
              </a:rPr>
              <a:t> Waterfall</a:t>
            </a:r>
          </a:p>
        </p:txBody>
      </p:sp>
      <p:sp>
        <p:nvSpPr>
          <p:cNvPr id="6" name="TextBox 5"/>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Nafakhum</a:t>
            </a:r>
            <a:r>
              <a:rPr lang="en-US" b="1" dirty="0"/>
              <a:t> Waterfall:</a:t>
            </a:r>
            <a:r>
              <a:rPr lang="en-US" dirty="0"/>
              <a:t> </a:t>
            </a:r>
          </a:p>
        </p:txBody>
      </p:sp>
    </p:spTree>
    <p:extLst>
      <p:ext uri="{BB962C8B-B14F-4D97-AF65-F5344CB8AC3E}">
        <p14:creationId xmlns:p14="http://schemas.microsoft.com/office/powerpoint/2010/main" val="9708077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283172"/>
            <a:ext cx="8596668" cy="3880773"/>
          </a:xfrm>
        </p:spPr>
        <p:txBody>
          <a:bodyPr/>
          <a:lstStyle/>
          <a:p>
            <a:r>
              <a:rPr lang="en-US" dirty="0" err="1" smtClean="0"/>
              <a:t>Nilgiri</a:t>
            </a:r>
            <a:r>
              <a:rPr lang="en-US" dirty="0" smtClean="0"/>
              <a:t> </a:t>
            </a:r>
            <a:r>
              <a:rPr lang="en-US" dirty="0"/>
              <a:t>is another favorite of tourists in </a:t>
            </a:r>
            <a:r>
              <a:rPr lang="en-US" dirty="0" err="1"/>
              <a:t>Bandarban</a:t>
            </a:r>
            <a:r>
              <a:rPr lang="en-US" dirty="0"/>
              <a:t>. Standing 3500 feet above sea level, </a:t>
            </a:r>
            <a:r>
              <a:rPr lang="en-US" dirty="0" err="1"/>
              <a:t>Nilgiri</a:t>
            </a:r>
            <a:r>
              <a:rPr lang="en-US" dirty="0"/>
              <a:t> is located in </a:t>
            </a:r>
            <a:r>
              <a:rPr lang="en-US" dirty="0" err="1"/>
              <a:t>Thanchi</a:t>
            </a:r>
            <a:r>
              <a:rPr lang="en-US" dirty="0"/>
              <a:t> </a:t>
            </a:r>
            <a:r>
              <a:rPr lang="en-US" dirty="0" err="1"/>
              <a:t>thana</a:t>
            </a:r>
            <a:r>
              <a:rPr lang="en-US" dirty="0"/>
              <a:t> in </a:t>
            </a:r>
            <a:r>
              <a:rPr lang="en-US" dirty="0" err="1"/>
              <a:t>Bandarban</a:t>
            </a:r>
            <a:r>
              <a:rPr lang="en-US" dirty="0"/>
              <a:t> Hill District. You can touch the moving clouds while standing over a hill-top from there. The beauty of </a:t>
            </a:r>
            <a:r>
              <a:rPr lang="en-US" dirty="0" err="1"/>
              <a:t>Nilgiri</a:t>
            </a:r>
            <a:r>
              <a:rPr lang="en-US" dirty="0"/>
              <a:t> varies with the change of seasons. During winter this place becomes foggy. Tourists love to enjoy a campfire in such weather. While in monsoon this place gets nearly covered by the fleeting clouds. Besides these, from </a:t>
            </a:r>
            <a:r>
              <a:rPr lang="en-US" dirty="0" err="1"/>
              <a:t>Nilgiri</a:t>
            </a:r>
            <a:r>
              <a:rPr lang="en-US" dirty="0"/>
              <a:t>, you can enjoy the spectacular view of the sunrise, sunset, sinuous </a:t>
            </a:r>
            <a:r>
              <a:rPr lang="en-US" dirty="0" err="1"/>
              <a:t>Sangu</a:t>
            </a:r>
            <a:r>
              <a:rPr lang="en-US" dirty="0"/>
              <a:t> River, surrounding greenery, etc.</a:t>
            </a:r>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904490" y="3817957"/>
            <a:ext cx="3614420" cy="2110740"/>
          </a:xfrm>
          <a:prstGeom prst="rect">
            <a:avLst/>
          </a:prstGeom>
        </p:spPr>
      </p:pic>
      <p:sp>
        <p:nvSpPr>
          <p:cNvPr id="5" name="Rectangle 4"/>
          <p:cNvSpPr/>
          <p:nvPr/>
        </p:nvSpPr>
        <p:spPr>
          <a:xfrm>
            <a:off x="3822312" y="5928697"/>
            <a:ext cx="1524776" cy="410882"/>
          </a:xfrm>
          <a:prstGeom prst="rect">
            <a:avLst/>
          </a:prstGeom>
        </p:spPr>
        <p:txBody>
          <a:bodyPr wrap="none">
            <a:spAutoFit/>
          </a:bodyPr>
          <a:lstStyle/>
          <a:p>
            <a:pPr algn="ctr">
              <a:lnSpc>
                <a:spcPct val="115000"/>
              </a:lnSpc>
              <a:spcAft>
                <a:spcPts val="2100"/>
              </a:spcAft>
            </a:pPr>
            <a:r>
              <a:rPr lang="en-US" dirty="0">
                <a:latin typeface="Times New Roman" panose="02020603050405020304" pitchFamily="18" charset="0"/>
                <a:ea typeface="Times New Roman" panose="02020603050405020304" pitchFamily="18" charset="0"/>
              </a:rPr>
              <a:t>Figure: </a:t>
            </a:r>
            <a:r>
              <a:rPr lang="en-US" dirty="0" err="1">
                <a:latin typeface="Times New Roman" panose="02020603050405020304" pitchFamily="18" charset="0"/>
                <a:ea typeface="Times New Roman" panose="02020603050405020304" pitchFamily="18" charset="0"/>
              </a:rPr>
              <a:t>Nilgiri</a:t>
            </a:r>
            <a:endParaRPr lang="en-US" dirty="0">
              <a:latin typeface="Times New Roman" panose="02020603050405020304" pitchFamily="18" charset="0"/>
              <a:ea typeface="Times New Roman" panose="02020603050405020304" pitchFamily="18" charset="0"/>
            </a:endParaRPr>
          </a:p>
        </p:txBody>
      </p:sp>
      <p:sp>
        <p:nvSpPr>
          <p:cNvPr id="6" name="TextBox 5"/>
          <p:cNvSpPr txBox="1"/>
          <p:nvPr/>
        </p:nvSpPr>
        <p:spPr>
          <a:xfrm>
            <a:off x="660524" y="74210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Nilgiri</a:t>
            </a:r>
            <a:r>
              <a:rPr lang="en-US" b="1" dirty="0"/>
              <a:t> Mountains:</a:t>
            </a:r>
            <a:r>
              <a:rPr lang="en-US" dirty="0"/>
              <a:t> </a:t>
            </a:r>
          </a:p>
        </p:txBody>
      </p:sp>
    </p:spTree>
    <p:extLst>
      <p:ext uri="{BB962C8B-B14F-4D97-AF65-F5344CB8AC3E}">
        <p14:creationId xmlns:p14="http://schemas.microsoft.com/office/powerpoint/2010/main" val="17011195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546635"/>
            <a:ext cx="8596668" cy="3880773"/>
          </a:xfrm>
        </p:spPr>
        <p:txBody>
          <a:bodyPr/>
          <a:lstStyle/>
          <a:p>
            <a:r>
              <a:rPr lang="en-US" dirty="0" smtClean="0"/>
              <a:t>1.Somapura </a:t>
            </a:r>
            <a:r>
              <a:rPr lang="en-US" dirty="0" err="1"/>
              <a:t>Mahavihara</a:t>
            </a:r>
            <a:r>
              <a:rPr lang="en-US" dirty="0"/>
              <a:t> in </a:t>
            </a:r>
            <a:r>
              <a:rPr lang="en-US" dirty="0" err="1"/>
              <a:t>Paharpur</a:t>
            </a:r>
            <a:r>
              <a:rPr lang="en-US" dirty="0"/>
              <a:t>, </a:t>
            </a:r>
            <a:r>
              <a:rPr lang="en-US" dirty="0" err="1"/>
              <a:t>Badalgachhi</a:t>
            </a:r>
            <a:r>
              <a:rPr lang="en-US" dirty="0"/>
              <a:t> </a:t>
            </a:r>
            <a:r>
              <a:rPr lang="en-US" dirty="0" err="1"/>
              <a:t>Upazila</a:t>
            </a:r>
            <a:r>
              <a:rPr lang="en-US" dirty="0"/>
              <a:t>, </a:t>
            </a:r>
            <a:r>
              <a:rPr lang="en-US" dirty="0" err="1"/>
              <a:t>Naogaon</a:t>
            </a:r>
            <a:r>
              <a:rPr lang="en-US" dirty="0"/>
              <a:t> District, Bangladesh is among the best known </a:t>
            </a:r>
            <a:r>
              <a:rPr lang="en-US" dirty="0" err="1"/>
              <a:t>viharas</a:t>
            </a:r>
            <a:r>
              <a:rPr lang="en-US" dirty="0"/>
              <a:t>, </a:t>
            </a:r>
            <a:r>
              <a:rPr lang="en-US" dirty="0" err="1"/>
              <a:t>centres</a:t>
            </a:r>
            <a:r>
              <a:rPr lang="en-US" dirty="0"/>
              <a:t> of learning. It was designated as a UNESCO World Heritage Site in 1985. the </a:t>
            </a:r>
            <a:r>
              <a:rPr lang="en-US" dirty="0" err="1"/>
              <a:t>Somapura</a:t>
            </a:r>
            <a:r>
              <a:rPr lang="en-US" dirty="0"/>
              <a:t> </a:t>
            </a:r>
            <a:r>
              <a:rPr lang="en-US" dirty="0" err="1"/>
              <a:t>Mahavihara</a:t>
            </a:r>
            <a:r>
              <a:rPr lang="en-US" dirty="0"/>
              <a:t> as built by the second Pala king </a:t>
            </a:r>
            <a:r>
              <a:rPr lang="en-US" dirty="0" err="1"/>
              <a:t>Dharmapala</a:t>
            </a:r>
            <a:r>
              <a:rPr lang="en-US" dirty="0"/>
              <a:t>. A number of monasteries grew up during the </a:t>
            </a:r>
            <a:r>
              <a:rPr lang="en-US" dirty="0" err="1"/>
              <a:t>Pāla</a:t>
            </a:r>
            <a:r>
              <a:rPr lang="en-US" dirty="0"/>
              <a:t> period in ancient India in the eastern regions of the Indian subcontinent</a:t>
            </a:r>
          </a:p>
        </p:txBody>
      </p:sp>
      <p:sp>
        <p:nvSpPr>
          <p:cNvPr id="4" name="TextBox 3"/>
          <p:cNvSpPr txBox="1"/>
          <p:nvPr/>
        </p:nvSpPr>
        <p:spPr>
          <a:xfrm>
            <a:off x="3036838" y="0"/>
            <a:ext cx="558464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fontAlgn="t"/>
            <a:r>
              <a:rPr lang="en-US" b="1" dirty="0"/>
              <a:t>MD. REFATUL </a:t>
            </a:r>
            <a:r>
              <a:rPr lang="en-US" b="1" dirty="0" smtClean="0"/>
              <a:t>ISLAM</a:t>
            </a:r>
            <a:r>
              <a:rPr lang="en-US" dirty="0"/>
              <a:t> </a:t>
            </a:r>
            <a:r>
              <a:rPr lang="en-US" dirty="0" smtClean="0"/>
              <a:t>            </a:t>
            </a:r>
            <a:r>
              <a:rPr lang="en-US" b="1" dirty="0" smtClean="0"/>
              <a:t>18-37818-2</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943532" y="3487021"/>
            <a:ext cx="5129314" cy="3227288"/>
          </a:xfrm>
          <a:prstGeom prst="rect">
            <a:avLst/>
          </a:prstGeom>
        </p:spPr>
      </p:pic>
      <p:sp>
        <p:nvSpPr>
          <p:cNvPr id="6" name="TextBox 5"/>
          <p:cNvSpPr txBox="1"/>
          <p:nvPr/>
        </p:nvSpPr>
        <p:spPr>
          <a:xfrm>
            <a:off x="643715" y="96611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err="1"/>
              <a:t>Somapura</a:t>
            </a:r>
            <a:r>
              <a:rPr lang="en-US" dirty="0"/>
              <a:t> </a:t>
            </a:r>
            <a:r>
              <a:rPr lang="en-US" dirty="0" err="1"/>
              <a:t>Mahavihara</a:t>
            </a:r>
            <a:r>
              <a:rPr lang="en-US" dirty="0"/>
              <a:t> </a:t>
            </a:r>
            <a:r>
              <a:rPr lang="en-US" dirty="0" smtClean="0"/>
              <a:t>:</a:t>
            </a:r>
            <a:endParaRPr lang="en-US" dirty="0"/>
          </a:p>
        </p:txBody>
      </p:sp>
    </p:spTree>
    <p:extLst>
      <p:ext uri="{BB962C8B-B14F-4D97-AF65-F5344CB8AC3E}">
        <p14:creationId xmlns:p14="http://schemas.microsoft.com/office/powerpoint/2010/main" val="4922465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627144"/>
            <a:ext cx="8596668" cy="3880773"/>
          </a:xfrm>
        </p:spPr>
        <p:txBody>
          <a:bodyPr/>
          <a:lstStyle/>
          <a:p>
            <a:r>
              <a:rPr lang="en-US" dirty="0" err="1" smtClean="0"/>
              <a:t>Kusumba</a:t>
            </a:r>
            <a:r>
              <a:rPr lang="en-US" dirty="0" smtClean="0"/>
              <a:t> </a:t>
            </a:r>
            <a:r>
              <a:rPr lang="en-US" dirty="0"/>
              <a:t>Mosque is a mosque in Manda </a:t>
            </a:r>
            <a:r>
              <a:rPr lang="en-US" dirty="0" err="1"/>
              <a:t>Upazila</a:t>
            </a:r>
            <a:r>
              <a:rPr lang="en-US" dirty="0"/>
              <a:t> of </a:t>
            </a:r>
            <a:r>
              <a:rPr lang="en-US" dirty="0" err="1"/>
              <a:t>Naogaon</a:t>
            </a:r>
            <a:r>
              <a:rPr lang="en-US" dirty="0"/>
              <a:t> District, Bangladesh. It was built in 1558-59. </a:t>
            </a:r>
            <a:r>
              <a:rPr lang="en-US" dirty="0" err="1"/>
              <a:t>Kusumba</a:t>
            </a:r>
            <a:r>
              <a:rPr lang="en-US" dirty="0"/>
              <a:t> Mosque is named after the village of </a:t>
            </a:r>
            <a:r>
              <a:rPr lang="en-US" dirty="0" err="1"/>
              <a:t>Kusumba</a:t>
            </a:r>
            <a:r>
              <a:rPr lang="en-US" dirty="0"/>
              <a:t>. It was built during the period of Afghan rule in Bangladesh by a high-ranking official named </a:t>
            </a:r>
            <a:r>
              <a:rPr lang="en-US" dirty="0" err="1"/>
              <a:t>Sulaiman</a:t>
            </a:r>
            <a:r>
              <a:rPr lang="en-US" dirty="0"/>
              <a:t>. It was built under one of the last Suri rulers. His name was </a:t>
            </a:r>
            <a:r>
              <a:rPr lang="en-US" dirty="0" err="1"/>
              <a:t>Ghiyasuddin</a:t>
            </a:r>
            <a:r>
              <a:rPr lang="en-US" dirty="0"/>
              <a:t> Bahadur Shah. Although the mosque was built under the </a:t>
            </a:r>
            <a:r>
              <a:rPr lang="en-US" dirty="0" err="1"/>
              <a:t>suri</a:t>
            </a:r>
            <a:r>
              <a:rPr lang="en-US" dirty="0"/>
              <a:t> rule, the architectural pattern was not influenced by the earlier Suri architecture of North India. It was constructed with a Bengal style. the most interesting thing is we can see the </a:t>
            </a:r>
            <a:r>
              <a:rPr lang="en-US" dirty="0" err="1"/>
              <a:t>kusumba</a:t>
            </a:r>
            <a:r>
              <a:rPr lang="en-US" dirty="0"/>
              <a:t> Mosque at BDT 5 taka note.</a:t>
            </a:r>
          </a:p>
        </p:txBody>
      </p:sp>
      <p:sp>
        <p:nvSpPr>
          <p:cNvPr id="5" name="TextBox 4"/>
          <p:cNvSpPr txBox="1"/>
          <p:nvPr/>
        </p:nvSpPr>
        <p:spPr>
          <a:xfrm>
            <a:off x="643715" y="96611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Kusumba</a:t>
            </a:r>
            <a:r>
              <a:rPr lang="en-US" b="1" dirty="0"/>
              <a:t> Mosque</a:t>
            </a:r>
            <a:r>
              <a:rPr lang="en-US" dirty="0"/>
              <a:t> </a:t>
            </a:r>
            <a:r>
              <a:rPr lang="en-US" dirty="0" smtClean="0"/>
              <a:t>:</a:t>
            </a:r>
            <a:endParaRPr lang="en-US"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3392079" y="3966455"/>
            <a:ext cx="4075430" cy="2717165"/>
          </a:xfrm>
          <a:prstGeom prst="rect">
            <a:avLst/>
          </a:prstGeom>
        </p:spPr>
      </p:pic>
    </p:spTree>
    <p:extLst>
      <p:ext uri="{BB962C8B-B14F-4D97-AF65-F5344CB8AC3E}">
        <p14:creationId xmlns:p14="http://schemas.microsoft.com/office/powerpoint/2010/main" val="97769279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598886"/>
            <a:ext cx="8596668" cy="3880773"/>
          </a:xfrm>
        </p:spPr>
        <p:txBody>
          <a:bodyPr/>
          <a:lstStyle/>
          <a:p>
            <a:r>
              <a:rPr lang="en-US" dirty="0" err="1" smtClean="0"/>
              <a:t>Mahasthangarh</a:t>
            </a:r>
            <a:r>
              <a:rPr lang="en-US" dirty="0" smtClean="0"/>
              <a:t> </a:t>
            </a:r>
            <a:r>
              <a:rPr lang="en-US" dirty="0"/>
              <a:t>is one of the earliest urban archaeological sites so far discovered in Bangladesh. The village </a:t>
            </a:r>
            <a:r>
              <a:rPr lang="en-US" dirty="0" err="1"/>
              <a:t>Mahasthan</a:t>
            </a:r>
            <a:r>
              <a:rPr lang="en-US" dirty="0"/>
              <a:t> in </a:t>
            </a:r>
            <a:r>
              <a:rPr lang="en-US" dirty="0" err="1"/>
              <a:t>Shibganj</a:t>
            </a:r>
            <a:r>
              <a:rPr lang="en-US" dirty="0"/>
              <a:t> </a:t>
            </a:r>
            <a:r>
              <a:rPr lang="en-US" dirty="0" err="1"/>
              <a:t>upazila</a:t>
            </a:r>
            <a:r>
              <a:rPr lang="en-US" dirty="0"/>
              <a:t> of </a:t>
            </a:r>
            <a:r>
              <a:rPr lang="en-US" dirty="0" err="1"/>
              <a:t>Bogra</a:t>
            </a:r>
            <a:r>
              <a:rPr lang="en-US" dirty="0"/>
              <a:t> District contains the remains of an ancient city which was called </a:t>
            </a:r>
            <a:r>
              <a:rPr lang="en-US" dirty="0" err="1"/>
              <a:t>Pundranagara</a:t>
            </a:r>
            <a:r>
              <a:rPr lang="en-US" dirty="0"/>
              <a:t> . </a:t>
            </a:r>
            <a:r>
              <a:rPr lang="en-US" dirty="0" err="1"/>
              <a:t>Mahasthangar</a:t>
            </a:r>
            <a:r>
              <a:rPr lang="en-US" dirty="0"/>
              <a:t> the ancient capital of </a:t>
            </a:r>
            <a:r>
              <a:rPr lang="en-US" dirty="0" err="1"/>
              <a:t>Pundravardhana</a:t>
            </a:r>
            <a:r>
              <a:rPr lang="en-US" dirty="0"/>
              <a:t>. ‘</a:t>
            </a:r>
            <a:r>
              <a:rPr lang="en-US" dirty="0" err="1"/>
              <a:t>Mahasthan</a:t>
            </a:r>
            <a:r>
              <a:rPr lang="en-US" dirty="0"/>
              <a:t>’ means ‘great sanctity’ and ‘</a:t>
            </a:r>
            <a:r>
              <a:rPr lang="en-US" dirty="0" err="1"/>
              <a:t>garh</a:t>
            </a:r>
            <a:r>
              <a:rPr lang="en-US" dirty="0"/>
              <a:t>’ means fort. It is believed that the rulers of the </a:t>
            </a:r>
            <a:r>
              <a:rPr lang="en-US" dirty="0" err="1"/>
              <a:t>Maurya</a:t>
            </a:r>
            <a:r>
              <a:rPr lang="en-US" dirty="0"/>
              <a:t> dynasty founded the city.</a:t>
            </a:r>
          </a:p>
        </p:txBody>
      </p:sp>
      <p:sp>
        <p:nvSpPr>
          <p:cNvPr id="4" name="TextBox 3"/>
          <p:cNvSpPr txBox="1"/>
          <p:nvPr/>
        </p:nvSpPr>
        <p:spPr>
          <a:xfrm>
            <a:off x="643715" y="96611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Mahasthangarh</a:t>
            </a:r>
            <a:r>
              <a:rPr lang="en-US" dirty="0"/>
              <a:t> </a:t>
            </a:r>
            <a:r>
              <a:rPr lang="en-US" dirty="0" smtClean="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003868" y="3429000"/>
            <a:ext cx="5943600" cy="2971800"/>
          </a:xfrm>
          <a:prstGeom prst="rect">
            <a:avLst/>
          </a:prstGeom>
        </p:spPr>
      </p:pic>
    </p:spTree>
    <p:extLst>
      <p:ext uri="{BB962C8B-B14F-4D97-AF65-F5344CB8AC3E}">
        <p14:creationId xmlns:p14="http://schemas.microsoft.com/office/powerpoint/2010/main" val="38630504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221225"/>
            <a:ext cx="8596668" cy="3880773"/>
          </a:xfrm>
        </p:spPr>
        <p:txBody>
          <a:bodyPr/>
          <a:lstStyle/>
          <a:p>
            <a:r>
              <a:rPr lang="en-US" dirty="0" err="1" smtClean="0"/>
              <a:t>Kantanagar</a:t>
            </a:r>
            <a:r>
              <a:rPr lang="en-US" dirty="0" smtClean="0"/>
              <a:t> </a:t>
            </a:r>
            <a:r>
              <a:rPr lang="en-US" dirty="0"/>
              <a:t>Temple, commonly known as </a:t>
            </a:r>
            <a:r>
              <a:rPr lang="en-US" dirty="0" err="1"/>
              <a:t>Kantaji</a:t>
            </a:r>
            <a:r>
              <a:rPr lang="en-US" dirty="0"/>
              <a:t> Temple or </a:t>
            </a:r>
            <a:r>
              <a:rPr lang="en-US" dirty="0" err="1"/>
              <a:t>Kantajew</a:t>
            </a:r>
            <a:r>
              <a:rPr lang="en-US" dirty="0"/>
              <a:t> Temple  is a late-medieval Hindu temple in </a:t>
            </a:r>
            <a:r>
              <a:rPr lang="en-US" dirty="0" err="1"/>
              <a:t>Dinajpur</a:t>
            </a:r>
            <a:r>
              <a:rPr lang="en-US" dirty="0"/>
              <a:t>, Bangladesh. The </a:t>
            </a:r>
            <a:r>
              <a:rPr lang="en-US" dirty="0" err="1"/>
              <a:t>Kantajew</a:t>
            </a:r>
            <a:r>
              <a:rPr lang="en-US" dirty="0"/>
              <a:t> Temple is one of the most magnificent religious edifices belonging to the 18th century. The temple belongs to the popular Hindu </a:t>
            </a:r>
            <a:r>
              <a:rPr lang="en-US" dirty="0" err="1"/>
              <a:t>Kanta</a:t>
            </a:r>
            <a:r>
              <a:rPr lang="en-US" dirty="0"/>
              <a:t> or Krishna and this is most popular with the </a:t>
            </a:r>
            <a:r>
              <a:rPr lang="en-US" dirty="0" err="1"/>
              <a:t>Radha</a:t>
            </a:r>
            <a:r>
              <a:rPr lang="en-US" dirty="0"/>
              <a:t>-Krishna cult (assemble of memorable love) in Bengal. This beautiful temple is dedicated to Krishna and his wife Rukmini Built by Maharaja </a:t>
            </a:r>
            <a:r>
              <a:rPr lang="en-US" dirty="0" err="1"/>
              <a:t>Pran</a:t>
            </a:r>
            <a:r>
              <a:rPr lang="en-US" dirty="0"/>
              <a:t> </a:t>
            </a:r>
            <a:r>
              <a:rPr lang="en-US" dirty="0" err="1"/>
              <a:t>Nath</a:t>
            </a:r>
            <a:r>
              <a:rPr lang="en-US" dirty="0"/>
              <a:t>.</a:t>
            </a:r>
          </a:p>
        </p:txBody>
      </p:sp>
      <p:sp>
        <p:nvSpPr>
          <p:cNvPr id="4" name="TextBox 3"/>
          <p:cNvSpPr txBox="1"/>
          <p:nvPr/>
        </p:nvSpPr>
        <p:spPr>
          <a:xfrm>
            <a:off x="643715" y="63954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Kantanagar</a:t>
            </a:r>
            <a:r>
              <a:rPr lang="en-US" b="1" dirty="0"/>
              <a:t> Temple</a:t>
            </a:r>
            <a:r>
              <a:rPr lang="en-US" dirty="0" smtClean="0"/>
              <a:t>:</a:t>
            </a:r>
            <a:endParaRPr lang="en-US" dirty="0"/>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2746560" y="3310826"/>
            <a:ext cx="4239306" cy="3120118"/>
          </a:xfrm>
          <a:prstGeom prst="rect">
            <a:avLst/>
          </a:prstGeom>
        </p:spPr>
      </p:pic>
    </p:spTree>
    <p:extLst>
      <p:ext uri="{BB962C8B-B14F-4D97-AF65-F5344CB8AC3E}">
        <p14:creationId xmlns:p14="http://schemas.microsoft.com/office/powerpoint/2010/main" val="23647729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611949"/>
            <a:ext cx="8596668" cy="3880773"/>
          </a:xfrm>
        </p:spPr>
        <p:txBody>
          <a:bodyPr/>
          <a:lstStyle/>
          <a:p>
            <a:pPr lvl="0"/>
            <a:r>
              <a:rPr lang="en-US" dirty="0"/>
              <a:t>The Sixty Dome Mosque more commonly known as </a:t>
            </a:r>
            <a:r>
              <a:rPr lang="en-US" i="1" dirty="0" err="1"/>
              <a:t>Shait</a:t>
            </a:r>
            <a:r>
              <a:rPr lang="en-US" i="1" dirty="0"/>
              <a:t> </a:t>
            </a:r>
            <a:r>
              <a:rPr lang="en-US" i="1" dirty="0" err="1"/>
              <a:t>Gambuj</a:t>
            </a:r>
            <a:r>
              <a:rPr lang="en-US" i="1" dirty="0"/>
              <a:t> Mosque</a:t>
            </a:r>
            <a:r>
              <a:rPr lang="en-US" dirty="0"/>
              <a:t> or </a:t>
            </a:r>
            <a:r>
              <a:rPr lang="en-US" i="1" dirty="0" err="1"/>
              <a:t>Saith</a:t>
            </a:r>
            <a:r>
              <a:rPr lang="en-US" i="1" dirty="0"/>
              <a:t> </a:t>
            </a:r>
            <a:r>
              <a:rPr lang="en-US" i="1" dirty="0" err="1"/>
              <a:t>Gunbad</a:t>
            </a:r>
            <a:r>
              <a:rPr lang="en-US" i="1" dirty="0"/>
              <a:t> Masjid</a:t>
            </a:r>
            <a:r>
              <a:rPr lang="en-US" dirty="0"/>
              <a:t>), is a mosque in Bangladesh. It is part of the Mosque city of </a:t>
            </a:r>
            <a:r>
              <a:rPr lang="en-US" dirty="0" err="1"/>
              <a:t>Bagerhat</a:t>
            </a:r>
            <a:r>
              <a:rPr lang="en-US" dirty="0"/>
              <a:t>, a UNESCO World heritage. It is the largest mosque in Bangladesh from the sultanate period (1204-1576). It was built during the Bengal Sultanate by Ulugh Khan Jahan, the governor of the Sundarbans. It has been described as "one of the most impressive Muslim monuments in the whole of the Indian subcontinent.</a:t>
            </a:r>
          </a:p>
          <a:p>
            <a:endParaRPr lang="en-US" dirty="0"/>
          </a:p>
        </p:txBody>
      </p:sp>
      <p:sp>
        <p:nvSpPr>
          <p:cNvPr id="4" name="TextBox 3"/>
          <p:cNvSpPr txBox="1"/>
          <p:nvPr/>
        </p:nvSpPr>
        <p:spPr>
          <a:xfrm>
            <a:off x="643715" y="96611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The Sixty Dome Mosque </a:t>
            </a:r>
            <a:r>
              <a:rPr lang="en-US" dirty="0" smtClean="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863369" y="3786595"/>
            <a:ext cx="6224597" cy="2561953"/>
          </a:xfrm>
          <a:prstGeom prst="rect">
            <a:avLst/>
          </a:prstGeom>
        </p:spPr>
      </p:pic>
    </p:spTree>
    <p:extLst>
      <p:ext uri="{BB962C8B-B14F-4D97-AF65-F5344CB8AC3E}">
        <p14:creationId xmlns:p14="http://schemas.microsoft.com/office/powerpoint/2010/main" val="380582692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919827"/>
            <a:ext cx="8596668" cy="3880773"/>
          </a:xfrm>
        </p:spPr>
        <p:txBody>
          <a:bodyPr/>
          <a:lstStyle/>
          <a:p>
            <a:r>
              <a:rPr lang="en-US" dirty="0" smtClean="0"/>
              <a:t>The </a:t>
            </a:r>
            <a:r>
              <a:rPr lang="en-US" dirty="0"/>
              <a:t>Sundarbans is a mangrove area in the delta formed by the confluence of the Ganges, Brahmaputra and </a:t>
            </a:r>
            <a:r>
              <a:rPr lang="en-US" dirty="0" err="1"/>
              <a:t>Meghna</a:t>
            </a:r>
            <a:r>
              <a:rPr lang="en-US" dirty="0"/>
              <a:t> Rivers in the Bay of Bengal. It spans from the Hooghly River in India's state of West Bengal to the </a:t>
            </a:r>
            <a:r>
              <a:rPr lang="en-US" dirty="0" err="1"/>
              <a:t>Baleswar</a:t>
            </a:r>
            <a:r>
              <a:rPr lang="en-US" dirty="0"/>
              <a:t> River in Bangladesh. It comprises of closed and open mangrove forests, land used for agricultural purpose, mudflats and barren land, and is intersected by multiple tidal streams and channels. Four protected areas in the Sundarbans are enlisted as UNESCO World Heritage Sites,</a:t>
            </a:r>
          </a:p>
        </p:txBody>
      </p:sp>
      <p:sp>
        <p:nvSpPr>
          <p:cNvPr id="5" name="TextBox 4"/>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Sundarbans</a:t>
            </a:r>
            <a:r>
              <a:rPr lang="en-US" dirty="0"/>
              <a:t>  </a:t>
            </a:r>
            <a:r>
              <a:rPr lang="en-US" dirty="0" smtClean="0"/>
              <a:t>:</a:t>
            </a:r>
            <a:endParaRPr lang="en-US"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2497183" y="3013710"/>
            <a:ext cx="5943600" cy="3573780"/>
          </a:xfrm>
          <a:prstGeom prst="rect">
            <a:avLst/>
          </a:prstGeom>
        </p:spPr>
      </p:pic>
    </p:spTree>
    <p:extLst>
      <p:ext uri="{BB962C8B-B14F-4D97-AF65-F5344CB8AC3E}">
        <p14:creationId xmlns:p14="http://schemas.microsoft.com/office/powerpoint/2010/main" val="133040691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998204"/>
            <a:ext cx="8596668" cy="3880773"/>
          </a:xfrm>
        </p:spPr>
        <p:txBody>
          <a:bodyPr/>
          <a:lstStyle/>
          <a:p>
            <a:r>
              <a:rPr lang="en-US" dirty="0" err="1" smtClean="0"/>
              <a:t>Moinamoti</a:t>
            </a:r>
            <a:r>
              <a:rPr lang="en-US" dirty="0" smtClean="0"/>
              <a:t> </a:t>
            </a:r>
            <a:r>
              <a:rPr lang="en-US" dirty="0"/>
              <a:t>is an isolated low, dimpled range of hills, dotted with more than 50 ancient Buddhist settlements dating between the 8th and 12th century CE. It was part of the ancient </a:t>
            </a:r>
            <a:r>
              <a:rPr lang="en-US" dirty="0" err="1"/>
              <a:t>Samatata</a:t>
            </a:r>
            <a:r>
              <a:rPr lang="en-US" dirty="0"/>
              <a:t> division of Bengal. It extends through the </a:t>
            </a:r>
            <a:r>
              <a:rPr lang="en-US" dirty="0" err="1"/>
              <a:t>centre</a:t>
            </a:r>
            <a:r>
              <a:rPr lang="en-US" dirty="0"/>
              <a:t> of the district of </a:t>
            </a:r>
            <a:r>
              <a:rPr lang="en-US" dirty="0" err="1"/>
              <a:t>Comilla</a:t>
            </a:r>
            <a:r>
              <a:rPr lang="en-US" dirty="0"/>
              <a:t> in Bangladesh. </a:t>
            </a:r>
            <a:r>
              <a:rPr lang="en-US" dirty="0" err="1"/>
              <a:t>Moinamoti</a:t>
            </a:r>
            <a:r>
              <a:rPr lang="en-US" dirty="0"/>
              <a:t> is located almost 8 miles from the city of </a:t>
            </a:r>
            <a:r>
              <a:rPr lang="en-US" dirty="0" err="1"/>
              <a:t>Comilla</a:t>
            </a:r>
            <a:r>
              <a:rPr lang="en-US" dirty="0"/>
              <a:t>. It is the home of one of the most important Buddhist archaeological sites in the region.</a:t>
            </a:r>
          </a:p>
        </p:txBody>
      </p:sp>
      <p:sp>
        <p:nvSpPr>
          <p:cNvPr id="4" name="TextBox 3"/>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Moinamoti</a:t>
            </a:r>
            <a:r>
              <a:rPr lang="en-US" dirty="0"/>
              <a:t>  </a:t>
            </a:r>
            <a:r>
              <a:rPr lang="en-US" dirty="0" smtClean="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418114" y="2938590"/>
            <a:ext cx="4572000" cy="3429000"/>
          </a:xfrm>
          <a:prstGeom prst="rect">
            <a:avLst/>
          </a:prstGeom>
        </p:spPr>
      </p:pic>
    </p:spTree>
    <p:extLst>
      <p:ext uri="{BB962C8B-B14F-4D97-AF65-F5344CB8AC3E}">
        <p14:creationId xmlns:p14="http://schemas.microsoft.com/office/powerpoint/2010/main" val="39199998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958806"/>
            <a:ext cx="8596668" cy="3880773"/>
          </a:xfrm>
        </p:spPr>
        <p:txBody>
          <a:bodyPr/>
          <a:lstStyle/>
          <a:p>
            <a:r>
              <a:rPr lang="en-US" dirty="0" err="1" smtClean="0"/>
              <a:t>Varendra</a:t>
            </a:r>
            <a:r>
              <a:rPr lang="en-US" dirty="0" smtClean="0"/>
              <a:t> </a:t>
            </a:r>
            <a:r>
              <a:rPr lang="en-US" dirty="0"/>
              <a:t>Museum (Bengali: </a:t>
            </a:r>
            <a:r>
              <a:rPr lang="en-US" dirty="0" err="1"/>
              <a:t>বরেন্দ্র</a:t>
            </a:r>
            <a:r>
              <a:rPr lang="en-US" dirty="0"/>
              <a:t> </a:t>
            </a:r>
            <a:r>
              <a:rPr lang="en-US" dirty="0" err="1"/>
              <a:t>জাদুঘর</a:t>
            </a:r>
            <a:r>
              <a:rPr lang="en-US" dirty="0"/>
              <a:t>) is a museum, research </a:t>
            </a:r>
            <a:r>
              <a:rPr lang="en-US" dirty="0" err="1"/>
              <a:t>centre</a:t>
            </a:r>
            <a:r>
              <a:rPr lang="en-US" dirty="0"/>
              <a:t>, and popular visitor attraction at the heart of </a:t>
            </a:r>
            <a:r>
              <a:rPr lang="en-US" dirty="0" err="1"/>
              <a:t>Rajshahi</a:t>
            </a:r>
            <a:r>
              <a:rPr lang="en-US" dirty="0"/>
              <a:t> and maintained by </a:t>
            </a:r>
            <a:r>
              <a:rPr lang="en-US" dirty="0" err="1"/>
              <a:t>Rajshahi</a:t>
            </a:r>
            <a:r>
              <a:rPr lang="en-US" dirty="0"/>
              <a:t> University in Bangladesh. It is considered the oldest museum in Bangladesh. It was the first museum to be established in East Bengal in 1910. The museum started out as the collection for </a:t>
            </a:r>
            <a:r>
              <a:rPr lang="en-US" dirty="0" err="1"/>
              <a:t>Varendra</a:t>
            </a:r>
            <a:r>
              <a:rPr lang="en-US" dirty="0"/>
              <a:t> </a:t>
            </a:r>
            <a:r>
              <a:rPr lang="en-US" dirty="0" err="1"/>
              <a:t>Anushandan</a:t>
            </a:r>
            <a:r>
              <a:rPr lang="en-US" dirty="0"/>
              <a:t> </a:t>
            </a:r>
            <a:r>
              <a:rPr lang="en-US" dirty="0" err="1"/>
              <a:t>Samiti</a:t>
            </a:r>
            <a:r>
              <a:rPr lang="en-US" dirty="0"/>
              <a:t> (or </a:t>
            </a:r>
            <a:r>
              <a:rPr lang="en-US" dirty="0" err="1"/>
              <a:t>Varendra</a:t>
            </a:r>
            <a:r>
              <a:rPr lang="en-US" dirty="0"/>
              <a:t> Investigation Society) and got its current name in 1919. The Rajahs of </a:t>
            </a:r>
            <a:r>
              <a:rPr lang="en-US" dirty="0" err="1"/>
              <a:t>Rajshahi</a:t>
            </a:r>
            <a:r>
              <a:rPr lang="en-US" dirty="0"/>
              <a:t> and </a:t>
            </a:r>
            <a:r>
              <a:rPr lang="en-US" dirty="0" err="1"/>
              <a:t>Natore</a:t>
            </a:r>
            <a:r>
              <a:rPr lang="en-US" dirty="0"/>
              <a:t>, notably prince </a:t>
            </a:r>
            <a:r>
              <a:rPr lang="en-US" dirty="0" err="1"/>
              <a:t>Sharat</a:t>
            </a:r>
            <a:r>
              <a:rPr lang="en-US" dirty="0"/>
              <a:t> Kumar Ray, donated their personal collections to </a:t>
            </a:r>
            <a:r>
              <a:rPr lang="en-US" dirty="0" err="1"/>
              <a:t>Varendra</a:t>
            </a:r>
            <a:r>
              <a:rPr lang="en-US" dirty="0"/>
              <a:t> Museum. </a:t>
            </a:r>
            <a:r>
              <a:rPr lang="en-US" dirty="0" err="1"/>
              <a:t>Varendra</a:t>
            </a:r>
            <a:r>
              <a:rPr lang="en-US" dirty="0"/>
              <a:t> refers to an ancient </a:t>
            </a:r>
            <a:r>
              <a:rPr lang="en-US" dirty="0" err="1"/>
              <a:t>Janapada</a:t>
            </a:r>
            <a:r>
              <a:rPr lang="en-US" dirty="0"/>
              <a:t> roughly corresponding to modern northern Bangladesh</a:t>
            </a:r>
          </a:p>
        </p:txBody>
      </p:sp>
      <p:sp>
        <p:nvSpPr>
          <p:cNvPr id="4" name="TextBox 3"/>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err="1"/>
              <a:t>Varendra</a:t>
            </a:r>
            <a:r>
              <a:rPr lang="en-US" b="1" dirty="0"/>
              <a:t> Museum</a:t>
            </a:r>
            <a:r>
              <a:rPr lang="en-US" dirty="0"/>
              <a:t>  </a:t>
            </a:r>
            <a:r>
              <a:rPr lang="en-US" dirty="0" smtClean="0"/>
              <a:t>:</a:t>
            </a:r>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2536371" y="3593102"/>
            <a:ext cx="5549537" cy="3134269"/>
          </a:xfrm>
          <a:prstGeom prst="rect">
            <a:avLst/>
          </a:prstGeom>
        </p:spPr>
      </p:pic>
    </p:spTree>
    <p:extLst>
      <p:ext uri="{BB962C8B-B14F-4D97-AF65-F5344CB8AC3E}">
        <p14:creationId xmlns:p14="http://schemas.microsoft.com/office/powerpoint/2010/main" val="1014671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44774" y="10079"/>
            <a:ext cx="5324016"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fontAlgn="t"/>
            <a:r>
              <a:rPr lang="en-US" dirty="0"/>
              <a:t>HABIB, MD. TAHSINUR </a:t>
            </a:r>
            <a:r>
              <a:rPr lang="en-US" dirty="0" smtClean="0"/>
              <a:t>RAHMAN    </a:t>
            </a:r>
            <a:r>
              <a:rPr lang="en-US" b="1" dirty="0" smtClean="0"/>
              <a:t>18-37837-2</a:t>
            </a:r>
            <a:endParaRPr lang="en-US" dirty="0"/>
          </a:p>
        </p:txBody>
      </p:sp>
      <p:sp>
        <p:nvSpPr>
          <p:cNvPr id="5" name="Title 4"/>
          <p:cNvSpPr txBox="1">
            <a:spLocks noGrp="1"/>
          </p:cNvSpPr>
          <p:nvPr>
            <p:ph type="title"/>
          </p:nvPr>
        </p:nvSpPr>
        <p:spPr>
          <a:xfrm>
            <a:off x="3948072" y="623668"/>
            <a:ext cx="2549192" cy="646331"/>
          </a:xfrm>
          <a:prstGeom prst="rect">
            <a:avLst/>
          </a:prstGeom>
          <a:solidFill>
            <a:srgbClr val="00B050"/>
          </a:solidFill>
        </p:spPr>
        <p:txBody>
          <a:bodyPr wrap="square" rtlCol="0">
            <a:spAutoFit/>
          </a:bodyPr>
          <a:lstStyle/>
          <a:p>
            <a:r>
              <a:rPr lang="en-US" b="1" dirty="0">
                <a:solidFill>
                  <a:schemeClr val="tx1"/>
                </a:solidFill>
              </a:rPr>
              <a:t>Problems</a:t>
            </a:r>
            <a:endParaRPr lang="en-US" b="1" dirty="0" smtClean="0">
              <a:solidFill>
                <a:schemeClr val="tx1"/>
              </a:solidFill>
            </a:endParaRPr>
          </a:p>
        </p:txBody>
      </p:sp>
      <p:sp>
        <p:nvSpPr>
          <p:cNvPr id="13" name="TextBox 12"/>
          <p:cNvSpPr txBox="1"/>
          <p:nvPr/>
        </p:nvSpPr>
        <p:spPr>
          <a:xfrm>
            <a:off x="599754" y="195183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smtClean="0"/>
              <a:t>Pollution problem</a:t>
            </a:r>
            <a:r>
              <a:rPr lang="en-US" dirty="0" smtClean="0"/>
              <a:t>:</a:t>
            </a:r>
            <a:endParaRPr lang="en-US" dirty="0"/>
          </a:p>
        </p:txBody>
      </p:sp>
      <p:sp>
        <p:nvSpPr>
          <p:cNvPr id="16" name="TextBox 15"/>
          <p:cNvSpPr txBox="1"/>
          <p:nvPr/>
        </p:nvSpPr>
        <p:spPr>
          <a:xfrm>
            <a:off x="599754" y="2699238"/>
            <a:ext cx="8630287"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t>Soil Pollution</a:t>
            </a:r>
          </a:p>
          <a:p>
            <a:pPr marL="285750" indent="-285750">
              <a:buFont typeface="Wingdings" panose="05000000000000000000" pitchFamily="2" charset="2"/>
              <a:buChar char="Ø"/>
            </a:pPr>
            <a:r>
              <a:rPr lang="en-US" dirty="0" smtClean="0"/>
              <a:t>Water Pollution</a:t>
            </a:r>
          </a:p>
          <a:p>
            <a:pPr marL="285750" indent="-285750">
              <a:buFont typeface="Wingdings" panose="05000000000000000000" pitchFamily="2" charset="2"/>
              <a:buChar char="Ø"/>
            </a:pPr>
            <a:r>
              <a:rPr lang="en-US" dirty="0" smtClean="0"/>
              <a:t>Air Pollution</a:t>
            </a:r>
          </a:p>
          <a:p>
            <a:pPr marL="285750" indent="-285750">
              <a:buFont typeface="Wingdings" panose="05000000000000000000" pitchFamily="2" charset="2"/>
              <a:buChar char="Ø"/>
            </a:pPr>
            <a:r>
              <a:rPr lang="en-US" dirty="0" smtClean="0"/>
              <a:t>Water Pollution</a:t>
            </a:r>
          </a:p>
          <a:p>
            <a:pPr marL="285750" indent="-285750">
              <a:buFont typeface="Wingdings" panose="05000000000000000000" pitchFamily="2" charset="2"/>
              <a:buChar char="Ø"/>
            </a:pPr>
            <a:r>
              <a:rPr lang="en-US" dirty="0" smtClean="0"/>
              <a:t>Sound Pollution</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31164422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220063"/>
            <a:ext cx="8596668" cy="3880773"/>
          </a:xfrm>
        </p:spPr>
        <p:txBody>
          <a:bodyPr/>
          <a:lstStyle/>
          <a:p>
            <a:r>
              <a:rPr lang="en-US" dirty="0"/>
              <a:t>We through plastic bottle here and there. When we go a picnic or some tourist place, we use one time plate and glass. But this kind of things are not clean properly. All this thing destroy the fertile of the soil. If it is going on then one day there will no plant for nature and also hills are not take their shape.</a:t>
            </a:r>
          </a:p>
        </p:txBody>
      </p:sp>
      <p:sp>
        <p:nvSpPr>
          <p:cNvPr id="4" name="TextBox 3"/>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Soil </a:t>
            </a:r>
            <a:r>
              <a:rPr lang="en-US" b="1" dirty="0" smtClean="0"/>
              <a:t>pollution</a:t>
            </a:r>
            <a:r>
              <a:rPr lang="en-US" dirty="0" smtClean="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770237" y="2799088"/>
            <a:ext cx="3941445" cy="2378710"/>
          </a:xfrm>
          <a:prstGeom prst="rect">
            <a:avLst/>
          </a:prstGeom>
        </p:spPr>
      </p:pic>
      <p:sp>
        <p:nvSpPr>
          <p:cNvPr id="6" name="Rectangle 5"/>
          <p:cNvSpPr/>
          <p:nvPr/>
        </p:nvSpPr>
        <p:spPr>
          <a:xfrm>
            <a:off x="-211247" y="5297592"/>
            <a:ext cx="3345788" cy="323165"/>
          </a:xfrm>
          <a:prstGeom prst="rect">
            <a:avLst/>
          </a:prstGeom>
        </p:spPr>
        <p:txBody>
          <a:bodyPr wrap="none">
            <a:spAutoFit/>
          </a:bodyPr>
          <a:lstStyle/>
          <a:p>
            <a:pPr>
              <a:lnSpc>
                <a:spcPts val="1800"/>
              </a:lnSpc>
              <a:spcAft>
                <a:spcPts val="800"/>
              </a:spcAft>
            </a:pPr>
            <a:r>
              <a:rPr lang="en-US" sz="1600" b="1" dirty="0">
                <a:latin typeface="Times New Roman" panose="02020603050405020304" pitchFamily="18" charset="0"/>
                <a:ea typeface="Calibri" panose="020F0502020204030204" pitchFamily="34" charset="0"/>
                <a:cs typeface="Vrinda"/>
              </a:rPr>
              <a:t>		</a:t>
            </a:r>
            <a:r>
              <a:rPr lang="en-US" b="1" dirty="0">
                <a:latin typeface="Times New Roman" panose="02020603050405020304" pitchFamily="18" charset="0"/>
                <a:ea typeface="Calibri" panose="020F0502020204030204" pitchFamily="34" charset="0"/>
                <a:cs typeface="Vrinda"/>
              </a:rPr>
              <a:t>Fig: </a:t>
            </a:r>
            <a:r>
              <a:rPr lang="en-US" b="1" dirty="0" err="1">
                <a:latin typeface="Times New Roman" panose="02020603050405020304" pitchFamily="18" charset="0"/>
                <a:ea typeface="Calibri" panose="020F0502020204030204" pitchFamily="34" charset="0"/>
                <a:cs typeface="Vrinda"/>
              </a:rPr>
              <a:t>Kuakata</a:t>
            </a:r>
            <a:endParaRPr lang="en-US" sz="1600" dirty="0">
              <a:effectLst/>
              <a:latin typeface="Calibri" panose="020F0502020204030204" pitchFamily="34" charset="0"/>
              <a:ea typeface="Calibri" panose="020F0502020204030204" pitchFamily="34" charset="0"/>
              <a:cs typeface="Vrinda"/>
            </a:endParaRPr>
          </a:p>
        </p:txBody>
      </p:sp>
      <p:pic>
        <p:nvPicPr>
          <p:cNvPr id="7" name="Content Placeholder 3"/>
          <p:cNvPicPr>
            <a:picLocks/>
          </p:cNvPicPr>
          <p:nvPr/>
        </p:nvPicPr>
        <p:blipFill>
          <a:blip r:embed="rId3">
            <a:extLst>
              <a:ext uri="{28A0092B-C50C-407E-A947-70E740481C1C}">
                <a14:useLocalDpi xmlns:a14="http://schemas.microsoft.com/office/drawing/2010/main" val="0"/>
              </a:ext>
            </a:extLst>
          </a:blip>
          <a:stretch>
            <a:fillRect/>
          </a:stretch>
        </p:blipFill>
        <p:spPr>
          <a:xfrm>
            <a:off x="5488072" y="2799089"/>
            <a:ext cx="3752311" cy="2378710"/>
          </a:xfrm>
          <a:prstGeom prst="rect">
            <a:avLst/>
          </a:prstGeom>
        </p:spPr>
      </p:pic>
      <p:sp>
        <p:nvSpPr>
          <p:cNvPr id="8" name="Rectangle 7"/>
          <p:cNvSpPr/>
          <p:nvPr/>
        </p:nvSpPr>
        <p:spPr>
          <a:xfrm>
            <a:off x="6629405" y="5297592"/>
            <a:ext cx="1965954" cy="369332"/>
          </a:xfrm>
          <a:prstGeom prst="rect">
            <a:avLst/>
          </a:prstGeom>
        </p:spPr>
        <p:txBody>
          <a:bodyPr wrap="square">
            <a:spAutoFit/>
          </a:bodyPr>
          <a:lstStyle/>
          <a:p>
            <a:r>
              <a:rPr lang="en-US" b="1" dirty="0">
                <a:latin typeface="Times New Roman" panose="02020603050405020304" pitchFamily="18" charset="0"/>
                <a:ea typeface="Calibri" panose="020F0502020204030204" pitchFamily="34" charset="0"/>
              </a:rPr>
              <a:t>Fig: </a:t>
            </a:r>
            <a:r>
              <a:rPr lang="en-US" b="1" dirty="0" err="1">
                <a:latin typeface="Times New Roman" panose="02020603050405020304" pitchFamily="18" charset="0"/>
                <a:ea typeface="Calibri" panose="020F0502020204030204" pitchFamily="34" charset="0"/>
              </a:rPr>
              <a:t>Sajek</a:t>
            </a:r>
            <a:r>
              <a:rPr lang="en-US" b="1" dirty="0">
                <a:latin typeface="Times New Roman" panose="02020603050405020304" pitchFamily="18" charset="0"/>
                <a:ea typeface="Calibri" panose="020F0502020204030204" pitchFamily="34" charset="0"/>
              </a:rPr>
              <a:t> </a:t>
            </a:r>
            <a:r>
              <a:rPr lang="en-US" b="1" dirty="0" err="1" smtClean="0">
                <a:latin typeface="Times New Roman" panose="02020603050405020304" pitchFamily="18" charset="0"/>
                <a:ea typeface="Calibri" panose="020F0502020204030204" pitchFamily="34" charset="0"/>
              </a:rPr>
              <a:t>Vally</a:t>
            </a:r>
            <a:endParaRPr lang="en-US" dirty="0"/>
          </a:p>
        </p:txBody>
      </p:sp>
    </p:spTree>
    <p:extLst>
      <p:ext uri="{BB962C8B-B14F-4D97-AF65-F5344CB8AC3E}">
        <p14:creationId xmlns:p14="http://schemas.microsoft.com/office/powerpoint/2010/main" val="33426640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272314"/>
            <a:ext cx="8596668" cy="3880773"/>
          </a:xfrm>
        </p:spPr>
        <p:txBody>
          <a:bodyPr/>
          <a:lstStyle/>
          <a:p>
            <a:r>
              <a:rPr lang="en-US" dirty="0" smtClean="0"/>
              <a:t>Cox </a:t>
            </a:r>
            <a:r>
              <a:rPr lang="en-US" dirty="0"/>
              <a:t>Bazar is the largest sea beach in the world. In the picture we see a lot of bottles in the water. Not only in Cox Bazar also in the river have seen it. It pollutes the water as well the nature and for this reason we lost many fishes and aquatic animals. </a:t>
            </a:r>
            <a:endParaRPr lang="en-US" dirty="0" smtClean="0"/>
          </a:p>
          <a:p>
            <a:endParaRPr lang="en-US" dirty="0"/>
          </a:p>
          <a:p>
            <a:r>
              <a:rPr lang="en-US" dirty="0" smtClean="0"/>
              <a:t>In </a:t>
            </a:r>
            <a:r>
              <a:rPr lang="en-US" dirty="0"/>
              <a:t>another picture we see a stone crusher machine that broke the stones. If we crush all the stones then the water of the river always muddy and big stones are the beauty of the nature.</a:t>
            </a:r>
          </a:p>
          <a:p>
            <a:endParaRPr lang="en-US" dirty="0"/>
          </a:p>
        </p:txBody>
      </p:sp>
      <p:sp>
        <p:nvSpPr>
          <p:cNvPr id="4" name="TextBox 3"/>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Water pollution</a:t>
            </a:r>
            <a:r>
              <a:rPr lang="en-US" b="1" dirty="0" smtClean="0"/>
              <a:t>:</a:t>
            </a:r>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820470" y="3869189"/>
            <a:ext cx="3934410" cy="2315864"/>
          </a:xfrm>
          <a:prstGeom prst="rect">
            <a:avLst/>
          </a:prstGeom>
        </p:spPr>
      </p:pic>
      <p:sp>
        <p:nvSpPr>
          <p:cNvPr id="6" name="Rectangle 5"/>
          <p:cNvSpPr/>
          <p:nvPr/>
        </p:nvSpPr>
        <p:spPr>
          <a:xfrm>
            <a:off x="1476136" y="6199135"/>
            <a:ext cx="1685077"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Fig: Cox Bazar</a:t>
            </a:r>
            <a:endParaRPr lang="en-US" dirty="0"/>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223961" y="4121121"/>
            <a:ext cx="4193177" cy="2063932"/>
          </a:xfrm>
          <a:prstGeom prst="rect">
            <a:avLst/>
          </a:prstGeom>
        </p:spPr>
      </p:pic>
      <p:sp>
        <p:nvSpPr>
          <p:cNvPr id="8" name="Rectangle 7"/>
          <p:cNvSpPr/>
          <p:nvPr/>
        </p:nvSpPr>
        <p:spPr>
          <a:xfrm>
            <a:off x="5379426" y="6199135"/>
            <a:ext cx="3386768" cy="646331"/>
          </a:xfrm>
          <a:prstGeom prst="rect">
            <a:avLst/>
          </a:prstGeom>
        </p:spPr>
        <p:txBody>
          <a:bodyPr wrap="square">
            <a:spAutoFit/>
          </a:bodyPr>
          <a:lstStyle/>
          <a:p>
            <a:r>
              <a:rPr lang="en-US" b="1" dirty="0">
                <a:latin typeface="Times New Roman" panose="02020603050405020304" pitchFamily="18" charset="0"/>
                <a:ea typeface="Calibri" panose="020F0502020204030204" pitchFamily="34" charset="0"/>
              </a:rPr>
              <a:t>Fig: Stone crusher in </a:t>
            </a:r>
            <a:r>
              <a:rPr lang="en-US" b="1" dirty="0" err="1" smtClean="0">
                <a:latin typeface="Times New Roman" panose="02020603050405020304" pitchFamily="18" charset="0"/>
                <a:ea typeface="Calibri" panose="020F0502020204030204" pitchFamily="34" charset="0"/>
              </a:rPr>
              <a:t>Jaflong</a:t>
            </a:r>
            <a:endParaRPr lang="en-US" b="1" dirty="0" smtClean="0">
              <a:latin typeface="Times New Roman" panose="02020603050405020304" pitchFamily="18" charset="0"/>
              <a:ea typeface="Calibri" panose="020F0502020204030204" pitchFamily="34" charset="0"/>
            </a:endParaRPr>
          </a:p>
          <a:p>
            <a:r>
              <a:rPr lang="en-US" b="1" dirty="0">
                <a:latin typeface="Times New Roman" panose="02020603050405020304" pitchFamily="18" charset="0"/>
                <a:ea typeface="Calibri" panose="020F0502020204030204" pitchFamily="34" charset="0"/>
              </a:rPr>
              <a:t> </a:t>
            </a:r>
            <a:r>
              <a:rPr lang="en-US" b="1" dirty="0" smtClean="0">
                <a:latin typeface="Times New Roman" panose="02020603050405020304" pitchFamily="18" charset="0"/>
                <a:ea typeface="Calibri" panose="020F0502020204030204" pitchFamily="34" charset="0"/>
              </a:rPr>
              <a:t>       </a:t>
            </a:r>
            <a:r>
              <a:rPr lang="en-US" b="1" dirty="0">
                <a:latin typeface="Times New Roman" panose="02020603050405020304" pitchFamily="18" charset="0"/>
                <a:ea typeface="Calibri" panose="020F0502020204030204" pitchFamily="34" charset="0"/>
              </a:rPr>
              <a:t>make noise and air polluted </a:t>
            </a:r>
            <a:endParaRPr lang="en-US" dirty="0"/>
          </a:p>
        </p:txBody>
      </p:sp>
    </p:spTree>
    <p:extLst>
      <p:ext uri="{BB962C8B-B14F-4D97-AF65-F5344CB8AC3E}">
        <p14:creationId xmlns:p14="http://schemas.microsoft.com/office/powerpoint/2010/main" val="8675278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2000"/>
                                        <p:tgtEl>
                                          <p:spTgt spid="7"/>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heel(1)">
                                      <p:cBhvr>
                                        <p:cTn id="1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402943"/>
            <a:ext cx="8596668" cy="3880773"/>
          </a:xfrm>
        </p:spPr>
        <p:txBody>
          <a:bodyPr/>
          <a:lstStyle/>
          <a:p>
            <a:r>
              <a:rPr lang="en-US" dirty="0" smtClean="0"/>
              <a:t>Air </a:t>
            </a:r>
            <a:r>
              <a:rPr lang="en-US" dirty="0"/>
              <a:t>is very important thing for nature. If a tourist place air is not clean then the spot is not visited by any tourist and also harmful for the nature.</a:t>
            </a:r>
          </a:p>
          <a:p>
            <a:pPr marL="0" indent="0">
              <a:buNone/>
            </a:pPr>
            <a:r>
              <a:rPr lang="en-US" dirty="0"/>
              <a:t> </a:t>
            </a:r>
            <a:endParaRPr lang="en-US" dirty="0" smtClean="0"/>
          </a:p>
          <a:p>
            <a:pPr marL="0" indent="0">
              <a:buNone/>
            </a:pPr>
            <a:endParaRPr lang="en-US" dirty="0"/>
          </a:p>
          <a:p>
            <a:pPr marL="0" indent="0">
              <a:buNone/>
            </a:pPr>
            <a:endParaRPr lang="en-US" dirty="0"/>
          </a:p>
          <a:p>
            <a:r>
              <a:rPr lang="en-US" dirty="0"/>
              <a:t>	A tourist place is always a refreshment place for a tourist. Any person never want that he/she goes a place and that is full of noise that cause his/her migrant problem.</a:t>
            </a:r>
          </a:p>
          <a:p>
            <a:endParaRPr lang="en-US" dirty="0"/>
          </a:p>
        </p:txBody>
      </p:sp>
      <p:sp>
        <p:nvSpPr>
          <p:cNvPr id="4" name="TextBox 3"/>
          <p:cNvSpPr txBox="1"/>
          <p:nvPr/>
        </p:nvSpPr>
        <p:spPr>
          <a:xfrm>
            <a:off x="643715" y="360427"/>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b="1" dirty="0"/>
              <a:t>Air pollution</a:t>
            </a:r>
            <a:r>
              <a:rPr lang="en-US" b="1" dirty="0" smtClean="0"/>
              <a:t>:</a:t>
            </a:r>
            <a:endParaRPr lang="en-US" dirty="0"/>
          </a:p>
        </p:txBody>
      </p:sp>
      <p:sp>
        <p:nvSpPr>
          <p:cNvPr id="5" name="TextBox 4"/>
          <p:cNvSpPr txBox="1"/>
          <p:nvPr/>
        </p:nvSpPr>
        <p:spPr>
          <a:xfrm>
            <a:off x="643714" y="266819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a:t>Sound pollution:</a:t>
            </a:r>
            <a:endParaRPr lang="en-US" dirty="0"/>
          </a:p>
        </p:txBody>
      </p:sp>
    </p:spTree>
    <p:extLst>
      <p:ext uri="{BB962C8B-B14F-4D97-AF65-F5344CB8AC3E}">
        <p14:creationId xmlns:p14="http://schemas.microsoft.com/office/powerpoint/2010/main" val="68632110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Current status of infrastructure facilities is not developed in many tourist place in </a:t>
            </a:r>
            <a:r>
              <a:rPr lang="en-US" dirty="0" smtClean="0"/>
              <a:t>Bangladesh. </a:t>
            </a:r>
            <a:r>
              <a:rPr lang="en-US" dirty="0"/>
              <a:t>For this reason in spite of the presence of many tourism potentials, Bangladesh’s share of income from tourism is very poor. With poor infrastructure, little marketing sense and direction, and a national carrier too busy serving the labor traffic, tourism potentials of Bangladesh this far remained untouched. One of the key aspects of infrastructure is the availability of monetary funds during travel. Even until recently, the ATMs outside Dhaka aren't connected to the international network, and traveler’s </a:t>
            </a:r>
            <a:r>
              <a:rPr lang="en-US" dirty="0" err="1"/>
              <a:t>cheques</a:t>
            </a:r>
            <a:r>
              <a:rPr lang="en-US" dirty="0"/>
              <a:t> are very difficult to cash.</a:t>
            </a:r>
          </a:p>
        </p:txBody>
      </p:sp>
      <p:sp>
        <p:nvSpPr>
          <p:cNvPr id="4" name="Title 4"/>
          <p:cNvSpPr txBox="1">
            <a:spLocks/>
          </p:cNvSpPr>
          <p:nvPr/>
        </p:nvSpPr>
        <p:spPr>
          <a:xfrm>
            <a:off x="2440820" y="0"/>
            <a:ext cx="5984722" cy="646331"/>
          </a:xfrm>
          <a:prstGeom prst="rect">
            <a:avLst/>
          </a:prstGeom>
          <a:solidFill>
            <a:srgbClr val="00B050"/>
          </a:solidFill>
        </p:spPr>
        <p:txBody>
          <a:bodyPr vert="horz" wrap="square" lIns="91440" tIns="45720" rIns="91440" bIns="45720" rtlCol="0" anchor="t">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Tourist spots problem:</a:t>
            </a:r>
            <a:endParaRPr lang="en-US" b="1" dirty="0" smtClean="0">
              <a:solidFill>
                <a:schemeClr val="tx1"/>
              </a:solidFill>
            </a:endParaRPr>
          </a:p>
        </p:txBody>
      </p:sp>
      <p:sp>
        <p:nvSpPr>
          <p:cNvPr id="5" name="TextBox 4"/>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Lack of Infrastructure Facilities:</a:t>
            </a:r>
          </a:p>
        </p:txBody>
      </p:sp>
    </p:spTree>
    <p:extLst>
      <p:ext uri="{BB962C8B-B14F-4D97-AF65-F5344CB8AC3E}">
        <p14:creationId xmlns:p14="http://schemas.microsoft.com/office/powerpoint/2010/main" val="24779018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597881"/>
            <a:ext cx="8596668" cy="3880773"/>
          </a:xfrm>
        </p:spPr>
        <p:txBody>
          <a:bodyPr/>
          <a:lstStyle/>
          <a:p>
            <a:r>
              <a:rPr lang="en-US" dirty="0" smtClean="0"/>
              <a:t>Bangladesh </a:t>
            </a:r>
            <a:r>
              <a:rPr lang="en-US" dirty="0"/>
              <a:t>is a democratic country and every five years changes its government by the election. After and before election period violates all the political parties countrywide, at that time domestic and international tourist afraid to move to the tourist destination. Due to political instability Bangladesh loss, a huge amount of currency and tourism industry suffer significantly as well.</a:t>
            </a:r>
          </a:p>
          <a:p>
            <a:endParaRPr lang="en-US" dirty="0"/>
          </a:p>
        </p:txBody>
      </p:sp>
      <p:sp>
        <p:nvSpPr>
          <p:cNvPr id="5" name="TextBox 4"/>
          <p:cNvSpPr txBox="1"/>
          <p:nvPr/>
        </p:nvSpPr>
        <p:spPr>
          <a:xfrm>
            <a:off x="677334" y="831932"/>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Political Instability:</a:t>
            </a:r>
          </a:p>
        </p:txBody>
      </p:sp>
    </p:spTree>
    <p:extLst>
      <p:ext uri="{BB962C8B-B14F-4D97-AF65-F5344CB8AC3E}">
        <p14:creationId xmlns:p14="http://schemas.microsoft.com/office/powerpoint/2010/main" val="2242516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580296"/>
            <a:ext cx="8596668" cy="3880773"/>
          </a:xfrm>
        </p:spPr>
        <p:txBody>
          <a:bodyPr/>
          <a:lstStyle/>
          <a:p>
            <a:r>
              <a:rPr lang="en-US" dirty="0"/>
              <a:t>Non-professional peoples are involving in tourism business; this is the one of the important problem for tourist. When the tourism sector earns more profit in other countries than our country faces problem by the non-professional staffs. So the government needs to ensure professional people’s involvement in a related sector to promote our tourism sector.</a:t>
            </a:r>
          </a:p>
        </p:txBody>
      </p:sp>
      <p:sp>
        <p:nvSpPr>
          <p:cNvPr id="4" name="TextBox 3"/>
          <p:cNvSpPr txBox="1"/>
          <p:nvPr/>
        </p:nvSpPr>
        <p:spPr>
          <a:xfrm>
            <a:off x="677334" y="805555"/>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Involvement of Non Professional Peoples</a:t>
            </a:r>
            <a:r>
              <a:rPr lang="en-US" dirty="0" smtClean="0"/>
              <a:t>:</a:t>
            </a:r>
            <a:endParaRPr lang="en-US" dirty="0"/>
          </a:p>
        </p:txBody>
      </p:sp>
    </p:spTree>
    <p:extLst>
      <p:ext uri="{BB962C8B-B14F-4D97-AF65-F5344CB8AC3E}">
        <p14:creationId xmlns:p14="http://schemas.microsoft.com/office/powerpoint/2010/main" val="283229500"/>
      </p:ext>
    </p:extLst>
  </p:cSld>
  <p:clrMapOvr>
    <a:masterClrMapping/>
  </p:clrMapOvr>
  <p:transition spd="slow">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Developed </a:t>
            </a:r>
            <a:r>
              <a:rPr lang="en-US" dirty="0"/>
              <a:t>human capital is key asset for any industry, trained up human resources always play an important role to develop it. Tourism industry is a key sector to increase GDP in any region like Bangladesh. In this regard, Bangladesh </a:t>
            </a:r>
            <a:r>
              <a:rPr lang="en-US" dirty="0" err="1"/>
              <a:t>Parjatan</a:t>
            </a:r>
            <a:r>
              <a:rPr lang="en-US" dirty="0"/>
              <a:t> Corporation has established National Hotel Tourism Training (NHTTI) in 1974. A two-year diploma course on </a:t>
            </a:r>
            <a:r>
              <a:rPr lang="en-US" dirty="0" err="1"/>
              <a:t>HotelManagement</a:t>
            </a:r>
            <a:r>
              <a:rPr lang="en-US" dirty="0"/>
              <a:t> has been started in 2002. However, the above initiatives of BPC are not sufficient to meet the needs of all tourist spots in the country. Besides, some recent research findings (Siddiqui 2006), (Rahman 2007), (</a:t>
            </a:r>
            <a:r>
              <a:rPr lang="en-US" dirty="0" err="1"/>
              <a:t>Parveen</a:t>
            </a:r>
            <a:r>
              <a:rPr lang="en-US" dirty="0"/>
              <a:t> 2009), (MD </a:t>
            </a:r>
            <a:r>
              <a:rPr lang="en-US" dirty="0" err="1"/>
              <a:t>Kamrul</a:t>
            </a:r>
            <a:r>
              <a:rPr lang="en-US" dirty="0"/>
              <a:t> Hassan, 2013), and (</a:t>
            </a:r>
            <a:r>
              <a:rPr lang="en-US" dirty="0" err="1"/>
              <a:t>Khondker</a:t>
            </a:r>
            <a:r>
              <a:rPr lang="en-US" dirty="0"/>
              <a:t> &amp; Ahsan 2015) proved that still there is acute shortage of tourism experts in most hotels and motets of tourist areas in Bangladesh. But now in tourist place established a private University where are two years diploma course on Hotel Management already started.</a:t>
            </a:r>
          </a:p>
        </p:txBody>
      </p:sp>
      <p:sp>
        <p:nvSpPr>
          <p:cNvPr id="4" name="TextBox 3"/>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Lack of Proper Training and Human Resources Related to Tourism:</a:t>
            </a:r>
          </a:p>
        </p:txBody>
      </p:sp>
    </p:spTree>
    <p:extLst>
      <p:ext uri="{BB962C8B-B14F-4D97-AF65-F5344CB8AC3E}">
        <p14:creationId xmlns:p14="http://schemas.microsoft.com/office/powerpoint/2010/main" val="17781389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Visa policy of the government is one of the main reasons behind the foreign tourists' reluctance to visit Bangladesh. If the government lifts visa restrictions for visitors from Europe, USA, and other western countries, around 20 lakh foreign tourists will come to Bangladesh in a couple of years. Now it requires about 15 to 20 days for a Bangladeshi visa even for a European citizen (The Daily Star, May 29, 2008).</a:t>
            </a:r>
          </a:p>
        </p:txBody>
      </p:sp>
      <p:sp>
        <p:nvSpPr>
          <p:cNvPr id="4" name="TextBox 3"/>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lvl="2"/>
            <a:r>
              <a:rPr lang="en-US" dirty="0"/>
              <a:t>Visa Problems</a:t>
            </a:r>
            <a:r>
              <a:rPr lang="en-US" dirty="0" smtClean="0"/>
              <a:t>:</a:t>
            </a:r>
            <a:endParaRPr lang="en-US" dirty="0"/>
          </a:p>
        </p:txBody>
      </p:sp>
    </p:spTree>
    <p:extLst>
      <p:ext uri="{BB962C8B-B14F-4D97-AF65-F5344CB8AC3E}">
        <p14:creationId xmlns:p14="http://schemas.microsoft.com/office/powerpoint/2010/main" val="965015503"/>
      </p:ext>
    </p:extLst>
  </p:cSld>
  <p:clrMapOvr>
    <a:masterClrMapping/>
  </p:clrMapOvr>
  <p:transition spd="slow">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737361"/>
            <a:ext cx="8596668" cy="4754880"/>
          </a:xfrm>
        </p:spPr>
        <p:txBody>
          <a:bodyPr>
            <a:normAutofit/>
          </a:bodyPr>
          <a:lstStyle/>
          <a:p>
            <a:r>
              <a:rPr lang="en-US" dirty="0"/>
              <a:t> According to the World Travel and Tourism Council’s Bangladesh Country Report 2017 (www.wttc.org) supported that the tourism generates the direct contribution to GDP and it was BDT840.2 billion (USD10.6 billion), 4.3% of total GDP in 2016 and it is forecast to rise by 7.2% in 2017 and to rise by 7.1% per annum to BDT1.783.0billion (USD22.6billion), 4.7% of total GDP in 2027. It is a global report but in Bangladesh no reliable report, data or statistics on tourism are available. But this assumed investment how, when and where will be invested are not clear. All policy, planning and moneys are allocated for already established as tourist organization. Now “Development Authorities” is trying to develop tourism industry of tourist place. There is no extra planning or budget allocation for the development of other spot to establish as a popular tourists spot. So the Government should provide special facilities to both local &amp; foreign investors to invest in this industry considering its economic growth and development. The Government may give the Tax holiday to more and more development of tourism industry and set up hotels and restaurants in the tourist areas all over the country. As a result, foreign investors will be interested to invest in this industry.</a:t>
            </a:r>
          </a:p>
          <a:p>
            <a:endParaRPr lang="en-US" dirty="0"/>
          </a:p>
        </p:txBody>
      </p:sp>
      <p:sp>
        <p:nvSpPr>
          <p:cNvPr id="5" name="TextBox 4"/>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Lack of Proper Planning from Government:</a:t>
            </a:r>
          </a:p>
        </p:txBody>
      </p:sp>
    </p:spTree>
    <p:extLst>
      <p:ext uri="{BB962C8B-B14F-4D97-AF65-F5344CB8AC3E}">
        <p14:creationId xmlns:p14="http://schemas.microsoft.com/office/powerpoint/2010/main" val="294823605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All the important districts for tourist destination and is definitely needs to be advertised properly on the popular tourist related websites. There should be coordination of information and services between these websites and popular hotels, restaurants, shops and travel services of each place of tourist spots in Bangladesh. We need to take pragmatic steps to develop and updated our websites to increase international tourist flow. It also needs to share update information in popular websites and advertise in different ways. For instance, Cambodia has its tourism websites in eight languages; Thailand, Malaysia, Indonesia in 12 languages, and we have ours only in one language, English.</a:t>
            </a:r>
          </a:p>
          <a:p>
            <a:endParaRPr lang="en-US" dirty="0"/>
          </a:p>
        </p:txBody>
      </p:sp>
      <p:sp>
        <p:nvSpPr>
          <p:cNvPr id="4" name="TextBox 3"/>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Lack of Marketing and Updated Information:</a:t>
            </a:r>
          </a:p>
        </p:txBody>
      </p:sp>
    </p:spTree>
    <p:extLst>
      <p:ext uri="{BB962C8B-B14F-4D97-AF65-F5344CB8AC3E}">
        <p14:creationId xmlns:p14="http://schemas.microsoft.com/office/powerpoint/2010/main" val="33531936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Security and safety is the most important thing for tourism development in any tourism spot like Bangladesh. Many important destination for tourist, the security system is not to develop yet. Sometimes it creates more problems for tourist due to kidnapping and hijacking issues. In the midnight tourists cannot move to tourists spot, because they can attack by the hijacker or band. Government and other non-government organizations are trying to serve safety and security for the local and international tourists but it is not enough, that’s why foreign tourists are disagreeing to stay a longer period in some tourist. This issue leads to loss huge foreign currencies of the country. Moreover, due to lack of sufficient security foreign tourists rarely stay in the tourist area after evening time to enjoy the rare natural beauty without any anxiety.</a:t>
            </a:r>
          </a:p>
        </p:txBody>
      </p:sp>
      <p:sp>
        <p:nvSpPr>
          <p:cNvPr id="4" name="TextBox 3"/>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Lack of Security and Safety</a:t>
            </a:r>
            <a:r>
              <a:rPr lang="en-US" dirty="0" smtClean="0"/>
              <a:t>:</a:t>
            </a:r>
            <a:endParaRPr lang="en-US" dirty="0"/>
          </a:p>
        </p:txBody>
      </p:sp>
    </p:spTree>
    <p:extLst>
      <p:ext uri="{BB962C8B-B14F-4D97-AF65-F5344CB8AC3E}">
        <p14:creationId xmlns:p14="http://schemas.microsoft.com/office/powerpoint/2010/main" val="18698759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most real danger when travelling around Bangladesh is road safety, which is extremely poor, especially on intercity highways. Bus travel is, quite frankly, scary, and road deaths are all too common. Travel by train when you can, or take domestic flights if your budget allows. Within larger towns and cities, take extra care when walking as a pedestrian because </a:t>
            </a:r>
            <a:r>
              <a:rPr lang="en-US" dirty="0" smtClean="0"/>
              <a:t>city- </a:t>
            </a:r>
            <a:r>
              <a:rPr lang="en-US" dirty="0" err="1" smtClean="0"/>
              <a:t>centre</a:t>
            </a:r>
            <a:r>
              <a:rPr lang="en-US" dirty="0" smtClean="0"/>
              <a:t> </a:t>
            </a:r>
            <a:r>
              <a:rPr lang="en-US" dirty="0"/>
              <a:t>roads – and pathways – can best be described as hectic, and are often downright dangerous. Many roadside pavements are laid directly over sewer culverts so be wary of broken slabs.</a:t>
            </a:r>
          </a:p>
        </p:txBody>
      </p:sp>
      <p:sp>
        <p:nvSpPr>
          <p:cNvPr id="4" name="Title 4"/>
          <p:cNvSpPr txBox="1">
            <a:spLocks/>
          </p:cNvSpPr>
          <p:nvPr/>
        </p:nvSpPr>
        <p:spPr>
          <a:xfrm>
            <a:off x="2440820" y="0"/>
            <a:ext cx="5984722" cy="646331"/>
          </a:xfrm>
          <a:prstGeom prst="rect">
            <a:avLst/>
          </a:prstGeom>
          <a:solidFill>
            <a:srgbClr val="00B050"/>
          </a:solidFill>
        </p:spPr>
        <p:txBody>
          <a:bodyPr vert="horz" wrap="square" lIns="91440" tIns="45720" rIns="91440" bIns="45720" rtlCol="0" anchor="t">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Travelling problem:</a:t>
            </a:r>
            <a:endParaRPr lang="en-US" b="1" dirty="0" smtClean="0">
              <a:solidFill>
                <a:schemeClr val="tx1"/>
              </a:solidFill>
            </a:endParaRPr>
          </a:p>
        </p:txBody>
      </p:sp>
      <p:sp>
        <p:nvSpPr>
          <p:cNvPr id="5" name="TextBox 4"/>
          <p:cNvSpPr txBox="1"/>
          <p:nvPr/>
        </p:nvSpPr>
        <p:spPr>
          <a:xfrm>
            <a:off x="677334" y="121879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Road safety:</a:t>
            </a:r>
          </a:p>
        </p:txBody>
      </p:sp>
    </p:spTree>
    <p:extLst>
      <p:ext uri="{BB962C8B-B14F-4D97-AF65-F5344CB8AC3E}">
        <p14:creationId xmlns:p14="http://schemas.microsoft.com/office/powerpoint/2010/main" val="2986035318"/>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Bangladesh is generally safe and few tourists experience serious crime. Pickpocketing and snatching on crowded buses and at busy markets is not as endemic as in some other Asian countries, but it does happen. Some foreigners have been mugged, some at gunpoint, in upmarket areas of Dhaka, such as </a:t>
            </a:r>
            <a:r>
              <a:rPr lang="en-US" dirty="0" err="1"/>
              <a:t>Gulshan</a:t>
            </a:r>
            <a:r>
              <a:rPr lang="en-US" dirty="0"/>
              <a:t> – be careful after dark. We have had some rare reports of harassment of foreigners in the form of pushing, stone throwing and spitting, but such incidents are very </a:t>
            </a:r>
            <a:r>
              <a:rPr lang="en-US" dirty="0" smtClean="0"/>
              <a:t>uncommon.</a:t>
            </a:r>
            <a:endParaRPr lang="en-US" dirty="0"/>
          </a:p>
        </p:txBody>
      </p:sp>
      <p:sp>
        <p:nvSpPr>
          <p:cNvPr id="4" name="TextBox 3"/>
          <p:cNvSpPr txBox="1"/>
          <p:nvPr/>
        </p:nvSpPr>
        <p:spPr>
          <a:xfrm>
            <a:off x="677334" y="1271046"/>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Crime:</a:t>
            </a:r>
          </a:p>
        </p:txBody>
      </p:sp>
    </p:spTree>
    <p:extLst>
      <p:ext uri="{BB962C8B-B14F-4D97-AF65-F5344CB8AC3E}">
        <p14:creationId xmlns:p14="http://schemas.microsoft.com/office/powerpoint/2010/main" val="2913700896"/>
      </p:ext>
    </p:extLst>
  </p:cSld>
  <p:clrMapOvr>
    <a:masterClrMapping/>
  </p:clrMapOvr>
  <p:transition spd="slow">
    <p:comb/>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Tourism has not really established itself in Bangladesh, and neither have tourist-related scams. Generally speaking, people are incredibly honest. The most common problem is that of being over-charged, but in a non-fixed price market, this can hardly be called a scam. There are the usual hassles with rickshaw, CNG (auto-rickshaw) and taxi drivers, though even here the level of harassment is minimal compared to some nearby countries, and in many towns it’s possible to just hop on a rickshaw without pre-negotiating a price and not suffer the consequences.</a:t>
            </a:r>
          </a:p>
          <a:p>
            <a:endParaRPr lang="en-US" dirty="0"/>
          </a:p>
        </p:txBody>
      </p:sp>
      <p:sp>
        <p:nvSpPr>
          <p:cNvPr id="4" name="TextBox 3"/>
          <p:cNvSpPr txBox="1"/>
          <p:nvPr/>
        </p:nvSpPr>
        <p:spPr>
          <a:xfrm>
            <a:off x="677334" y="1271046"/>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Scams:</a:t>
            </a:r>
          </a:p>
        </p:txBody>
      </p:sp>
    </p:spTree>
    <p:extLst>
      <p:ext uri="{BB962C8B-B14F-4D97-AF65-F5344CB8AC3E}">
        <p14:creationId xmlns:p14="http://schemas.microsoft.com/office/powerpoint/2010/main" val="286149211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44774" y="10079"/>
            <a:ext cx="5324016"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fontAlgn="t"/>
            <a:r>
              <a:rPr lang="en-US" dirty="0" smtClean="0"/>
              <a:t>KIBRIA, RASEL </a:t>
            </a:r>
            <a:r>
              <a:rPr lang="en-US" b="1" dirty="0" smtClean="0"/>
              <a:t>18-37797-2</a:t>
            </a:r>
            <a:endParaRPr lang="en-US" dirty="0"/>
          </a:p>
        </p:txBody>
      </p:sp>
      <p:sp>
        <p:nvSpPr>
          <p:cNvPr id="5" name="Title 4"/>
          <p:cNvSpPr txBox="1">
            <a:spLocks/>
          </p:cNvSpPr>
          <p:nvPr/>
        </p:nvSpPr>
        <p:spPr>
          <a:xfrm>
            <a:off x="3845168" y="432164"/>
            <a:ext cx="2560768" cy="523220"/>
          </a:xfrm>
          <a:prstGeom prst="rect">
            <a:avLst/>
          </a:prstGeom>
          <a:solidFill>
            <a:srgbClr val="00B050"/>
          </a:solidFill>
        </p:spPr>
        <p:txBody>
          <a:bodyPr vert="horz" wrap="square" lIns="91440" tIns="45720" rIns="91440" bIns="45720" rtlCol="0" anchor="t">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rPr>
              <a:t>Development </a:t>
            </a:r>
            <a:endParaRPr lang="en-US" sz="2800" b="1" dirty="0" smtClean="0">
              <a:solidFill>
                <a:schemeClr val="tx1"/>
              </a:solidFill>
            </a:endParaRPr>
          </a:p>
        </p:txBody>
      </p:sp>
      <p:sp>
        <p:nvSpPr>
          <p:cNvPr id="2" name="Content Placeholder 1"/>
          <p:cNvSpPr>
            <a:spLocks noGrp="1"/>
          </p:cNvSpPr>
          <p:nvPr>
            <p:ph idx="1"/>
          </p:nvPr>
        </p:nvSpPr>
        <p:spPr>
          <a:xfrm>
            <a:off x="712503" y="1514258"/>
            <a:ext cx="8596668" cy="3880773"/>
          </a:xfrm>
        </p:spPr>
        <p:txBody>
          <a:bodyPr/>
          <a:lstStyle/>
          <a:p>
            <a:r>
              <a:rPr lang="en-US" dirty="0" smtClean="0"/>
              <a:t>When it’s about travel, first things come in mind about the safety and the security.  </a:t>
            </a:r>
          </a:p>
          <a:p>
            <a:r>
              <a:rPr lang="en-US" dirty="0" smtClean="0"/>
              <a:t>The number of tourists polices and private security must be increase in tourists places and government should arrange proper tanning </a:t>
            </a:r>
            <a:r>
              <a:rPr lang="en-US" dirty="0"/>
              <a:t>and </a:t>
            </a:r>
            <a:r>
              <a:rPr lang="en-US" dirty="0" smtClean="0"/>
              <a:t>patrol equipment such as drone and car for them to provide quick response.</a:t>
            </a:r>
          </a:p>
          <a:p>
            <a:r>
              <a:rPr lang="en-US" dirty="0" smtClean="0"/>
              <a:t>In seasonal period such as </a:t>
            </a:r>
            <a:r>
              <a:rPr lang="en-US" dirty="0" err="1" smtClean="0"/>
              <a:t>Eid</a:t>
            </a:r>
            <a:r>
              <a:rPr lang="en-US" dirty="0" smtClean="0"/>
              <a:t>, New year eves, public holiday  tourist place become over crowdie. It’s become very hard to maintain safety issue. Besides it’s also create highway traffic . To solve this problem fixed number of people can allowed and pre-booking system can be implemented.</a:t>
            </a:r>
            <a:endParaRPr lang="en-US" dirty="0"/>
          </a:p>
        </p:txBody>
      </p:sp>
      <p:pic>
        <p:nvPicPr>
          <p:cNvPr id="7" name="Picture 6" descr="Drone Emergency Rescue Covers All Areas in Chongqing | ichongqi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2503" y="4548309"/>
            <a:ext cx="2951285" cy="1436656"/>
          </a:xfrm>
          <a:prstGeom prst="rect">
            <a:avLst/>
          </a:prstGeom>
          <a:noFill/>
          <a:ln>
            <a:noFill/>
          </a:ln>
        </p:spPr>
      </p:pic>
      <p:pic>
        <p:nvPicPr>
          <p:cNvPr id="8" name="Picture 7" descr="Khulna Metropolitan Police gets new service vehicles, patrol cars | The  Daily Star"/>
          <p:cNvPicPr/>
          <p:nvPr/>
        </p:nvPicPr>
        <p:blipFill>
          <a:blip r:embed="rId3">
            <a:extLst>
              <a:ext uri="{28A0092B-C50C-407E-A947-70E740481C1C}">
                <a14:useLocalDpi xmlns:a14="http://schemas.microsoft.com/office/drawing/2010/main" val="0"/>
              </a:ext>
            </a:extLst>
          </a:blip>
          <a:srcRect/>
          <a:stretch>
            <a:fillRect/>
          </a:stretch>
        </p:blipFill>
        <p:spPr bwMode="auto">
          <a:xfrm>
            <a:off x="3845168" y="4548309"/>
            <a:ext cx="2749063" cy="1436656"/>
          </a:xfrm>
          <a:prstGeom prst="rect">
            <a:avLst/>
          </a:prstGeom>
          <a:noFill/>
          <a:ln>
            <a:noFill/>
          </a:ln>
        </p:spPr>
      </p:pic>
      <p:pic>
        <p:nvPicPr>
          <p:cNvPr id="1026" name="Picture 2" descr="Massive traffic jam on Dhaka-Tangail highway | theindependentbd.c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0222" y="4548309"/>
            <a:ext cx="2737011" cy="143665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07877" y="5984965"/>
            <a:ext cx="2884123" cy="787652"/>
          </a:xfrm>
          <a:prstGeom prst="rect">
            <a:avLst/>
          </a:prstGeom>
        </p:spPr>
        <p:txBody>
          <a:bodyPr wrap="none">
            <a:spAutoFit/>
          </a:bodyPr>
          <a:lstStyle/>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Figure: Live monitoring </a:t>
            </a:r>
            <a:r>
              <a:rPr lang="en-US" dirty="0" smtClean="0">
                <a:solidFill>
                  <a:srgbClr val="000000"/>
                </a:solidFill>
                <a:latin typeface="Times New Roman" panose="02020603050405020304" pitchFamily="18" charset="0"/>
                <a:ea typeface="Times New Roman" panose="02020603050405020304" pitchFamily="18" charset="0"/>
                <a:cs typeface="Vrinda"/>
              </a:rPr>
              <a:t>with</a:t>
            </a:r>
          </a:p>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 </a:t>
            </a:r>
            <a:r>
              <a:rPr lang="en-US" dirty="0" smtClean="0">
                <a:solidFill>
                  <a:srgbClr val="000000"/>
                </a:solidFill>
                <a:latin typeface="Times New Roman" panose="02020603050405020304" pitchFamily="18" charset="0"/>
                <a:ea typeface="Times New Roman" panose="02020603050405020304" pitchFamily="18" charset="0"/>
                <a:cs typeface="Vrinda"/>
              </a:rPr>
              <a:t>           </a:t>
            </a:r>
            <a:r>
              <a:rPr lang="en-US" dirty="0">
                <a:solidFill>
                  <a:srgbClr val="000000"/>
                </a:solidFill>
                <a:latin typeface="Times New Roman" panose="02020603050405020304" pitchFamily="18" charset="0"/>
                <a:ea typeface="Times New Roman" panose="02020603050405020304" pitchFamily="18" charset="0"/>
                <a:cs typeface="Vrinda"/>
              </a:rPr>
              <a:t>drone</a:t>
            </a:r>
            <a:endParaRPr lang="en-US" dirty="0">
              <a:latin typeface="Calibri" panose="020F0502020204030204" pitchFamily="34" charset="0"/>
              <a:ea typeface="Calibri" panose="020F0502020204030204" pitchFamily="34" charset="0"/>
              <a:cs typeface="Vrinda"/>
            </a:endParaRPr>
          </a:p>
        </p:txBody>
      </p:sp>
      <p:sp>
        <p:nvSpPr>
          <p:cNvPr id="10" name="Rectangle 9"/>
          <p:cNvSpPr/>
          <p:nvPr/>
        </p:nvSpPr>
        <p:spPr>
          <a:xfrm>
            <a:off x="6923635" y="5990095"/>
            <a:ext cx="2758127" cy="773032"/>
          </a:xfrm>
          <a:prstGeom prst="rect">
            <a:avLst/>
          </a:prstGeom>
        </p:spPr>
        <p:txBody>
          <a:bodyPr wrap="none">
            <a:spAutoFit/>
          </a:bodyPr>
          <a:lstStyle/>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Figure: Massive traffic jam </a:t>
            </a:r>
            <a:endParaRPr lang="en-US" dirty="0" smtClean="0">
              <a:solidFill>
                <a:srgbClr val="000000"/>
              </a:solidFill>
              <a:latin typeface="Times New Roman" panose="02020603050405020304" pitchFamily="18" charset="0"/>
              <a:ea typeface="Times New Roman" panose="02020603050405020304" pitchFamily="18" charset="0"/>
              <a:cs typeface="Vrinda"/>
            </a:endParaRPr>
          </a:p>
          <a:p>
            <a:pPr>
              <a:lnSpc>
                <a:spcPct val="107000"/>
              </a:lnSpc>
              <a:spcAft>
                <a:spcPts val="800"/>
              </a:spcAft>
            </a:pPr>
            <a:r>
              <a:rPr lang="en-US" dirty="0" smtClean="0">
                <a:solidFill>
                  <a:srgbClr val="000000"/>
                </a:solidFill>
                <a:latin typeface="Times New Roman" panose="02020603050405020304" pitchFamily="18" charset="0"/>
                <a:ea typeface="Times New Roman" panose="02020603050405020304" pitchFamily="18" charset="0"/>
                <a:cs typeface="Vrinda"/>
              </a:rPr>
              <a:t>on </a:t>
            </a:r>
            <a:r>
              <a:rPr lang="en-US" dirty="0">
                <a:solidFill>
                  <a:srgbClr val="000000"/>
                </a:solidFill>
                <a:latin typeface="Times New Roman" panose="02020603050405020304" pitchFamily="18" charset="0"/>
                <a:ea typeface="Times New Roman" panose="02020603050405020304" pitchFamily="18" charset="0"/>
                <a:cs typeface="Vrinda"/>
              </a:rPr>
              <a:t>Dhaka-</a:t>
            </a:r>
            <a:r>
              <a:rPr lang="en-US" dirty="0" err="1">
                <a:solidFill>
                  <a:srgbClr val="000000"/>
                </a:solidFill>
                <a:latin typeface="Times New Roman" panose="02020603050405020304" pitchFamily="18" charset="0"/>
                <a:ea typeface="Times New Roman" panose="02020603050405020304" pitchFamily="18" charset="0"/>
                <a:cs typeface="Vrinda"/>
              </a:rPr>
              <a:t>Tangail</a:t>
            </a:r>
            <a:r>
              <a:rPr lang="en-US" dirty="0">
                <a:solidFill>
                  <a:srgbClr val="000000"/>
                </a:solidFill>
                <a:latin typeface="Times New Roman" panose="02020603050405020304" pitchFamily="18" charset="0"/>
                <a:ea typeface="Times New Roman" panose="02020603050405020304" pitchFamily="18" charset="0"/>
                <a:cs typeface="Vrinda"/>
              </a:rPr>
              <a:t> highway</a:t>
            </a:r>
            <a:endParaRPr lang="en-US" dirty="0">
              <a:latin typeface="Calibri" panose="020F0502020204030204" pitchFamily="34" charset="0"/>
              <a:ea typeface="Calibri" panose="020F0502020204030204" pitchFamily="34" charset="0"/>
              <a:cs typeface="Vrinda"/>
            </a:endParaRPr>
          </a:p>
        </p:txBody>
      </p:sp>
      <p:sp>
        <p:nvSpPr>
          <p:cNvPr id="11" name="Rectangle 10"/>
          <p:cNvSpPr/>
          <p:nvPr/>
        </p:nvSpPr>
        <p:spPr>
          <a:xfrm>
            <a:off x="3821404" y="6065775"/>
            <a:ext cx="3005951" cy="388696"/>
          </a:xfrm>
          <a:prstGeom prst="rect">
            <a:avLst/>
          </a:prstGeom>
        </p:spPr>
        <p:txBody>
          <a:bodyPr wrap="none">
            <a:spAutoFit/>
          </a:bodyPr>
          <a:lstStyle/>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Figure: Car for quick response</a:t>
            </a:r>
            <a:endParaRPr lang="en-US" dirty="0">
              <a:latin typeface="Calibri" panose="020F0502020204030204" pitchFamily="34" charset="0"/>
              <a:ea typeface="Calibri" panose="020F0502020204030204" pitchFamily="34" charset="0"/>
              <a:cs typeface="Vrinda"/>
            </a:endParaRPr>
          </a:p>
        </p:txBody>
      </p:sp>
      <p:sp>
        <p:nvSpPr>
          <p:cNvPr id="13" name="TextBox 12"/>
          <p:cNvSpPr txBox="1"/>
          <p:nvPr/>
        </p:nvSpPr>
        <p:spPr>
          <a:xfrm>
            <a:off x="607877" y="1050155"/>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smtClean="0"/>
              <a:t>Safety and Security:</a:t>
            </a:r>
            <a:endParaRPr lang="en-US" dirty="0"/>
          </a:p>
        </p:txBody>
      </p:sp>
    </p:spTree>
    <p:extLst>
      <p:ext uri="{BB962C8B-B14F-4D97-AF65-F5344CB8AC3E}">
        <p14:creationId xmlns:p14="http://schemas.microsoft.com/office/powerpoint/2010/main" val="14192748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 fill="hold"/>
                                        <p:tgtEl>
                                          <p:spTgt spid="13"/>
                                        </p:tgtEl>
                                        <p:attrNameLst>
                                          <p:attrName>ppt_x</p:attrName>
                                        </p:attrNameLst>
                                      </p:cBhvr>
                                      <p:tavLst>
                                        <p:tav tm="0">
                                          <p:val>
                                            <p:strVal val="#ppt_x"/>
                                          </p:val>
                                        </p:tav>
                                        <p:tav tm="100000">
                                          <p:val>
                                            <p:strVal val="#ppt_x"/>
                                          </p:val>
                                        </p:tav>
                                      </p:tavLst>
                                    </p:anim>
                                    <p:anim calcmode="lin" valueType="num">
                                      <p:cBhvr additive="base">
                                        <p:cTn id="8" dur="5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25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 calcmode="lin" valueType="num">
                                      <p:cBhvr additive="base">
                                        <p:cTn id="17" dur="25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8" dur="25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additive="base">
                                        <p:cTn id="23" dur="25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4" dur="250" fill="hold"/>
                                        <p:tgtEl>
                                          <p:spTgt spid="2">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0" fill="hold"/>
                                        <p:tgtEl>
                                          <p:spTgt spid="7"/>
                                        </p:tgtEl>
                                        <p:attrNameLst>
                                          <p:attrName>ppt_x</p:attrName>
                                        </p:attrNameLst>
                                      </p:cBhvr>
                                      <p:tavLst>
                                        <p:tav tm="0">
                                          <p:val>
                                            <p:strVal val="#ppt_x"/>
                                          </p:val>
                                        </p:tav>
                                        <p:tav tm="100000">
                                          <p:val>
                                            <p:strVal val="#ppt_x"/>
                                          </p:val>
                                        </p:tav>
                                      </p:tavLst>
                                    </p:anim>
                                    <p:anim calcmode="lin" valueType="num">
                                      <p:cBhvr additive="base">
                                        <p:cTn id="28" dur="1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0" fill="hold"/>
                                        <p:tgtEl>
                                          <p:spTgt spid="8"/>
                                        </p:tgtEl>
                                        <p:attrNameLst>
                                          <p:attrName>ppt_x</p:attrName>
                                        </p:attrNameLst>
                                      </p:cBhvr>
                                      <p:tavLst>
                                        <p:tav tm="0">
                                          <p:val>
                                            <p:strVal val="#ppt_x"/>
                                          </p:val>
                                        </p:tav>
                                        <p:tav tm="100000">
                                          <p:val>
                                            <p:strVal val="#ppt_x"/>
                                          </p:val>
                                        </p:tav>
                                      </p:tavLst>
                                    </p:anim>
                                    <p:anim calcmode="lin" valueType="num">
                                      <p:cBhvr additive="base">
                                        <p:cTn id="32" dur="1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anim calcmode="lin" valueType="num">
                                      <p:cBhvr additive="base">
                                        <p:cTn id="35" dur="10" fill="hold"/>
                                        <p:tgtEl>
                                          <p:spTgt spid="1026"/>
                                        </p:tgtEl>
                                        <p:attrNameLst>
                                          <p:attrName>ppt_x</p:attrName>
                                        </p:attrNameLst>
                                      </p:cBhvr>
                                      <p:tavLst>
                                        <p:tav tm="0">
                                          <p:val>
                                            <p:strVal val="#ppt_x"/>
                                          </p:val>
                                        </p:tav>
                                        <p:tav tm="100000">
                                          <p:val>
                                            <p:strVal val="#ppt_x"/>
                                          </p:val>
                                        </p:tav>
                                      </p:tavLst>
                                    </p:anim>
                                    <p:anim calcmode="lin" valueType="num">
                                      <p:cBhvr additive="base">
                                        <p:cTn id="36" dur="10" fill="hold"/>
                                        <p:tgtEl>
                                          <p:spTgt spid="102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 fill="hold"/>
                                        <p:tgtEl>
                                          <p:spTgt spid="10"/>
                                        </p:tgtEl>
                                        <p:attrNameLst>
                                          <p:attrName>ppt_x</p:attrName>
                                        </p:attrNameLst>
                                      </p:cBhvr>
                                      <p:tavLst>
                                        <p:tav tm="0">
                                          <p:val>
                                            <p:strVal val="#ppt_x"/>
                                          </p:val>
                                        </p:tav>
                                        <p:tav tm="100000">
                                          <p:val>
                                            <p:strVal val="#ppt_x"/>
                                          </p:val>
                                        </p:tav>
                                      </p:tavLst>
                                    </p:anim>
                                    <p:anim calcmode="lin" valueType="num">
                                      <p:cBhvr additive="base">
                                        <p:cTn id="40" dur="1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 fill="hold"/>
                                        <p:tgtEl>
                                          <p:spTgt spid="11"/>
                                        </p:tgtEl>
                                        <p:attrNameLst>
                                          <p:attrName>ppt_x</p:attrName>
                                        </p:attrNameLst>
                                      </p:cBhvr>
                                      <p:tavLst>
                                        <p:tav tm="0">
                                          <p:val>
                                            <p:strVal val="#ppt_x"/>
                                          </p:val>
                                        </p:tav>
                                        <p:tav tm="100000">
                                          <p:val>
                                            <p:strVal val="#ppt_x"/>
                                          </p:val>
                                        </p:tav>
                                      </p:tavLst>
                                    </p:anim>
                                    <p:anim calcmode="lin" valueType="num">
                                      <p:cBhvr additive="base">
                                        <p:cTn id="44" dur="1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10" fill="hold"/>
                                        <p:tgtEl>
                                          <p:spTgt spid="9"/>
                                        </p:tgtEl>
                                        <p:attrNameLst>
                                          <p:attrName>ppt_x</p:attrName>
                                        </p:attrNameLst>
                                      </p:cBhvr>
                                      <p:tavLst>
                                        <p:tav tm="0">
                                          <p:val>
                                            <p:strVal val="#ppt_x"/>
                                          </p:val>
                                        </p:tav>
                                        <p:tav tm="100000">
                                          <p:val>
                                            <p:strVal val="#ppt_x"/>
                                          </p:val>
                                        </p:tav>
                                      </p:tavLst>
                                    </p:anim>
                                    <p:anim calcmode="lin" valueType="num">
                                      <p:cBhvr additive="base">
                                        <p:cTn id="48" dur="1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9" grpId="0"/>
      <p:bldP spid="10" grpId="0"/>
      <p:bldP spid="11" grpId="0"/>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496" y="1667442"/>
            <a:ext cx="8596668" cy="3880773"/>
          </a:xfrm>
        </p:spPr>
        <p:txBody>
          <a:bodyPr/>
          <a:lstStyle/>
          <a:p>
            <a:r>
              <a:rPr lang="en-US" dirty="0" smtClean="0"/>
              <a:t>Government should make some policy and train tourist agency's for foreign tourists. Foreign tourists must travel under an agency to void unnecessary harassment.    </a:t>
            </a:r>
          </a:p>
          <a:p>
            <a:r>
              <a:rPr lang="en-US" dirty="0" smtClean="0"/>
              <a:t>Local authority must </a:t>
            </a:r>
            <a:r>
              <a:rPr lang="en-US" dirty="0"/>
              <a:t>take necessary </a:t>
            </a:r>
            <a:r>
              <a:rPr lang="en-US" dirty="0" smtClean="0"/>
              <a:t>steps to create awareness both traveler and local people. Because sometimes tourists </a:t>
            </a:r>
            <a:r>
              <a:rPr lang="en-US" dirty="0"/>
              <a:t>make unnecessary </a:t>
            </a:r>
            <a:r>
              <a:rPr lang="en-US" dirty="0" smtClean="0"/>
              <a:t>hassle with local people. </a:t>
            </a:r>
          </a:p>
          <a:p>
            <a:r>
              <a:rPr lang="en-US" dirty="0" smtClean="0"/>
              <a:t>In riverine area </a:t>
            </a:r>
            <a:r>
              <a:rPr lang="en-US" dirty="0"/>
              <a:t>must ensure </a:t>
            </a:r>
            <a:r>
              <a:rPr lang="en-US" dirty="0" smtClean="0"/>
              <a:t>swift </a:t>
            </a:r>
            <a:r>
              <a:rPr lang="en-US" dirty="0"/>
              <a:t>water </a:t>
            </a:r>
            <a:r>
              <a:rPr lang="en-US" dirty="0" smtClean="0"/>
              <a:t>rescue.</a:t>
            </a:r>
            <a:endParaRPr lang="en-US" dirty="0"/>
          </a:p>
          <a:p>
            <a:endParaRPr lang="en-US" dirty="0"/>
          </a:p>
          <a:p>
            <a:endParaRPr lang="en-US" dirty="0"/>
          </a:p>
        </p:txBody>
      </p:sp>
      <p:sp>
        <p:nvSpPr>
          <p:cNvPr id="4" name="TextBox 3"/>
          <p:cNvSpPr txBox="1"/>
          <p:nvPr/>
        </p:nvSpPr>
        <p:spPr>
          <a:xfrm>
            <a:off x="607877" y="1050155"/>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smtClean="0"/>
              <a:t>Safety and Security:</a:t>
            </a:r>
            <a:endParaRPr lang="en-US" dirty="0"/>
          </a:p>
        </p:txBody>
      </p:sp>
      <p:pic>
        <p:nvPicPr>
          <p:cNvPr id="6" name="Picture 5" descr="https://upload.wikimedia.org/wikipedia/commons/thumb/d/df/Angel_Thunder_2013_130410-F-PD696-1233.jpg/220px-Angel_Thunder_2013_130410-F-PD696-1233.jpg"/>
          <p:cNvPicPr/>
          <p:nvPr/>
        </p:nvPicPr>
        <p:blipFill>
          <a:blip r:embed="rId2">
            <a:extLst>
              <a:ext uri="{28A0092B-C50C-407E-A947-70E740481C1C}">
                <a14:useLocalDpi xmlns:a14="http://schemas.microsoft.com/office/drawing/2010/main" val="0"/>
              </a:ext>
            </a:extLst>
          </a:blip>
          <a:srcRect/>
          <a:stretch>
            <a:fillRect/>
          </a:stretch>
        </p:blipFill>
        <p:spPr bwMode="auto">
          <a:xfrm>
            <a:off x="1663975" y="4488446"/>
            <a:ext cx="2095500" cy="1419225"/>
          </a:xfrm>
          <a:prstGeom prst="rect">
            <a:avLst/>
          </a:prstGeom>
          <a:noFill/>
          <a:ln>
            <a:noFill/>
          </a:ln>
        </p:spPr>
      </p:pic>
      <p:pic>
        <p:nvPicPr>
          <p:cNvPr id="7" name="Picture 6" descr="https://upload.wikimedia.org/wikipedia/commons/thumb/8/83/BFDSwiftWaterRescueDrill.jpg/250px-BFDSwiftWaterRescueDrill.jpg"/>
          <p:cNvPicPr/>
          <p:nvPr/>
        </p:nvPicPr>
        <p:blipFill>
          <a:blip r:embed="rId3">
            <a:extLst>
              <a:ext uri="{28A0092B-C50C-407E-A947-70E740481C1C}">
                <a14:useLocalDpi xmlns:a14="http://schemas.microsoft.com/office/drawing/2010/main" val="0"/>
              </a:ext>
            </a:extLst>
          </a:blip>
          <a:srcRect/>
          <a:stretch>
            <a:fillRect/>
          </a:stretch>
        </p:blipFill>
        <p:spPr bwMode="auto">
          <a:xfrm>
            <a:off x="5301761" y="4505273"/>
            <a:ext cx="1969478" cy="1536089"/>
          </a:xfrm>
          <a:prstGeom prst="rect">
            <a:avLst/>
          </a:prstGeom>
          <a:noFill/>
          <a:ln>
            <a:noFill/>
          </a:ln>
        </p:spPr>
      </p:pic>
      <p:sp>
        <p:nvSpPr>
          <p:cNvPr id="5" name="Rectangle 4"/>
          <p:cNvSpPr/>
          <p:nvPr/>
        </p:nvSpPr>
        <p:spPr>
          <a:xfrm>
            <a:off x="1606988" y="5657671"/>
            <a:ext cx="2857500" cy="1200329"/>
          </a:xfrm>
          <a:prstGeom prst="rect">
            <a:avLst/>
          </a:prstGeom>
        </p:spPr>
        <p:txBody>
          <a:bodyPr wrap="square">
            <a:spAutoFit/>
          </a:bodyPr>
          <a:lstStyle/>
          <a:p>
            <a:endParaRPr lang="en-US" dirty="0"/>
          </a:p>
          <a:p>
            <a:r>
              <a:rPr lang="en-US" dirty="0"/>
              <a:t>Figure: Usage of a throw bag in a swift water rescue exercise</a:t>
            </a:r>
          </a:p>
        </p:txBody>
      </p:sp>
      <p:sp>
        <p:nvSpPr>
          <p:cNvPr id="8" name="Rectangle 7"/>
          <p:cNvSpPr/>
          <p:nvPr/>
        </p:nvSpPr>
        <p:spPr>
          <a:xfrm>
            <a:off x="5131777" y="5796170"/>
            <a:ext cx="6096000" cy="646331"/>
          </a:xfrm>
          <a:prstGeom prst="rect">
            <a:avLst/>
          </a:prstGeom>
        </p:spPr>
        <p:txBody>
          <a:bodyPr>
            <a:spAutoFit/>
          </a:bodyPr>
          <a:lstStyle/>
          <a:p>
            <a:endParaRPr lang="en-US" dirty="0"/>
          </a:p>
          <a:p>
            <a:r>
              <a:rPr lang="en-US" dirty="0"/>
              <a:t>Figure: S</a:t>
            </a:r>
            <a:r>
              <a:rPr lang="en-US" dirty="0" smtClean="0"/>
              <a:t>wift </a:t>
            </a:r>
            <a:r>
              <a:rPr lang="en-US" dirty="0"/>
              <a:t>water rescue drill </a:t>
            </a:r>
          </a:p>
        </p:txBody>
      </p:sp>
    </p:spTree>
    <p:extLst>
      <p:ext uri="{BB962C8B-B14F-4D97-AF65-F5344CB8AC3E}">
        <p14:creationId xmlns:p14="http://schemas.microsoft.com/office/powerpoint/2010/main" val="222379696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50" fill="hold"/>
                                        <p:tgtEl>
                                          <p:spTgt spid="7"/>
                                        </p:tgtEl>
                                        <p:attrNameLst>
                                          <p:attrName>ppt_x</p:attrName>
                                        </p:attrNameLst>
                                      </p:cBhvr>
                                      <p:tavLst>
                                        <p:tav tm="0">
                                          <p:val>
                                            <p:strVal val="#ppt_x"/>
                                          </p:val>
                                        </p:tav>
                                        <p:tav tm="100000">
                                          <p:val>
                                            <p:strVal val="#ppt_x"/>
                                          </p:val>
                                        </p:tav>
                                      </p:tavLst>
                                    </p:anim>
                                    <p:anim calcmode="lin" valueType="num">
                                      <p:cBhvr additive="base">
                                        <p:cTn id="12" dur="2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250" fill="hold"/>
                                        <p:tgtEl>
                                          <p:spTgt spid="5"/>
                                        </p:tgtEl>
                                        <p:attrNameLst>
                                          <p:attrName>ppt_x</p:attrName>
                                        </p:attrNameLst>
                                      </p:cBhvr>
                                      <p:tavLst>
                                        <p:tav tm="0">
                                          <p:val>
                                            <p:strVal val="#ppt_x"/>
                                          </p:val>
                                        </p:tav>
                                        <p:tav tm="100000">
                                          <p:val>
                                            <p:strVal val="#ppt_x"/>
                                          </p:val>
                                        </p:tav>
                                      </p:tavLst>
                                    </p:anim>
                                    <p:anim calcmode="lin" valueType="num">
                                      <p:cBhvr additive="base">
                                        <p:cTn id="16" dur="25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50" fill="hold"/>
                                        <p:tgtEl>
                                          <p:spTgt spid="8"/>
                                        </p:tgtEl>
                                        <p:attrNameLst>
                                          <p:attrName>ppt_x</p:attrName>
                                        </p:attrNameLst>
                                      </p:cBhvr>
                                      <p:tavLst>
                                        <p:tav tm="0">
                                          <p:val>
                                            <p:strVal val="#ppt_x"/>
                                          </p:val>
                                        </p:tav>
                                        <p:tav tm="100000">
                                          <p:val>
                                            <p:strVal val="#ppt_x"/>
                                          </p:val>
                                        </p:tav>
                                      </p:tavLst>
                                    </p:anim>
                                    <p:anim calcmode="lin" valueType="num">
                                      <p:cBhvr additive="base">
                                        <p:cTn id="20" dur="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643715" y="2393530"/>
            <a:ext cx="8596668" cy="3880773"/>
          </a:xfrm>
        </p:spPr>
        <p:txBody>
          <a:bodyPr/>
          <a:lstStyle/>
          <a:p>
            <a:r>
              <a:rPr lang="en-US" dirty="0"/>
              <a:t>Proper excavation, preservation and conservation of the archeological sites of Bangladesh in the best possible </a:t>
            </a:r>
            <a:r>
              <a:rPr lang="en-US" dirty="0" smtClean="0"/>
              <a:t>way.</a:t>
            </a:r>
          </a:p>
          <a:p>
            <a:r>
              <a:rPr lang="en-US" dirty="0"/>
              <a:t>I</a:t>
            </a:r>
            <a:r>
              <a:rPr lang="en-US" dirty="0" smtClean="0"/>
              <a:t>mplement </a:t>
            </a:r>
            <a:r>
              <a:rPr lang="en-US" dirty="0"/>
              <a:t>the extensive recommendations by the UNESCO for repair and protection of the </a:t>
            </a:r>
            <a:r>
              <a:rPr lang="en-US" dirty="0" err="1"/>
              <a:t>Bagerhat</a:t>
            </a:r>
            <a:r>
              <a:rPr lang="en-US" dirty="0"/>
              <a:t> and </a:t>
            </a:r>
            <a:r>
              <a:rPr lang="en-US" dirty="0" err="1"/>
              <a:t>Paharpur</a:t>
            </a:r>
            <a:r>
              <a:rPr lang="en-US" dirty="0"/>
              <a:t> </a:t>
            </a:r>
            <a:r>
              <a:rPr lang="en-US" dirty="0" smtClean="0"/>
              <a:t>monuments.</a:t>
            </a:r>
          </a:p>
          <a:p>
            <a:r>
              <a:rPr lang="en-US" dirty="0"/>
              <a:t>N</a:t>
            </a:r>
            <a:r>
              <a:rPr lang="en-US" dirty="0" smtClean="0"/>
              <a:t>ot </a:t>
            </a:r>
            <a:r>
              <a:rPr lang="en-US" dirty="0"/>
              <a:t>only to ensure physical protection but to make the site more visually interesting to </a:t>
            </a:r>
            <a:r>
              <a:rPr lang="en-US" dirty="0" smtClean="0"/>
              <a:t>visitors.</a:t>
            </a:r>
          </a:p>
          <a:p>
            <a:r>
              <a:rPr lang="en-US" dirty="0" smtClean="0"/>
              <a:t> Improve </a:t>
            </a:r>
            <a:r>
              <a:rPr lang="en-US" dirty="0"/>
              <a:t>access road to the </a:t>
            </a:r>
            <a:r>
              <a:rPr lang="en-US" dirty="0" smtClean="0"/>
              <a:t>sites.</a:t>
            </a:r>
            <a:endParaRPr lang="en-US" dirty="0"/>
          </a:p>
          <a:p>
            <a:endParaRPr lang="en-US" dirty="0"/>
          </a:p>
        </p:txBody>
      </p:sp>
      <p:sp>
        <p:nvSpPr>
          <p:cNvPr id="5" name="TextBox 4"/>
          <p:cNvSpPr txBox="1"/>
          <p:nvPr/>
        </p:nvSpPr>
        <p:spPr>
          <a:xfrm>
            <a:off x="643715" y="1689058"/>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Archeological Sites</a:t>
            </a:r>
            <a:r>
              <a:rPr lang="en-US" dirty="0" smtClean="0"/>
              <a:t>:</a:t>
            </a:r>
            <a:endParaRPr lang="en-US" dirty="0"/>
          </a:p>
        </p:txBody>
      </p:sp>
    </p:spTree>
    <p:extLst>
      <p:ext uri="{BB962C8B-B14F-4D97-AF65-F5344CB8AC3E}">
        <p14:creationId xmlns:p14="http://schemas.microsoft.com/office/powerpoint/2010/main" val="11190645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422035"/>
            <a:ext cx="8596668" cy="3880773"/>
          </a:xfrm>
        </p:spPr>
        <p:txBody>
          <a:bodyPr/>
          <a:lstStyle/>
          <a:p>
            <a:r>
              <a:rPr lang="en-US" dirty="0" smtClean="0"/>
              <a:t>Sundarbans </a:t>
            </a:r>
            <a:r>
              <a:rPr lang="en-US" dirty="0"/>
              <a:t>- easy and smooth accessibility to the Mangrove </a:t>
            </a:r>
            <a:r>
              <a:rPr lang="en-US" dirty="0" smtClean="0"/>
              <a:t>forest</a:t>
            </a:r>
            <a:r>
              <a:rPr lang="en-US" dirty="0"/>
              <a:t>.</a:t>
            </a:r>
            <a:endParaRPr lang="en-US" dirty="0" smtClean="0"/>
          </a:p>
          <a:p>
            <a:r>
              <a:rPr lang="en-US" dirty="0"/>
              <a:t>E</a:t>
            </a:r>
            <a:r>
              <a:rPr lang="en-US" dirty="0" smtClean="0"/>
              <a:t>stablish </a:t>
            </a:r>
            <a:r>
              <a:rPr lang="en-US" dirty="0"/>
              <a:t>watch tower within the </a:t>
            </a:r>
            <a:r>
              <a:rPr lang="en-US" dirty="0" smtClean="0"/>
              <a:t>forest.</a:t>
            </a:r>
          </a:p>
          <a:p>
            <a:r>
              <a:rPr lang="en-US" dirty="0"/>
              <a:t>I</a:t>
            </a:r>
            <a:r>
              <a:rPr lang="en-US" dirty="0" smtClean="0"/>
              <a:t>nstall </a:t>
            </a:r>
            <a:r>
              <a:rPr lang="en-US" dirty="0"/>
              <a:t>standard and modem cruise-ship for package tour to the </a:t>
            </a:r>
            <a:r>
              <a:rPr lang="en-US" dirty="0" smtClean="0"/>
              <a:t>Sundarbans.</a:t>
            </a:r>
          </a:p>
          <a:p>
            <a:r>
              <a:rPr lang="en-US" dirty="0"/>
              <a:t>P</a:t>
            </a:r>
            <a:r>
              <a:rPr lang="en-US" dirty="0" smtClean="0"/>
              <a:t>roper </a:t>
            </a:r>
            <a:r>
              <a:rPr lang="en-US" dirty="0"/>
              <a:t>publicity and marketing of the </a:t>
            </a:r>
            <a:r>
              <a:rPr lang="en-US" dirty="0" smtClean="0"/>
              <a:t>product </a:t>
            </a:r>
            <a:r>
              <a:rPr lang="en-US" dirty="0"/>
              <a:t>a long-term conservation and preservation strategy should be taken for this mangrove forest, like the Everglades in </a:t>
            </a:r>
            <a:r>
              <a:rPr lang="en-US" dirty="0" smtClean="0"/>
              <a:t>USA</a:t>
            </a:r>
            <a:r>
              <a:rPr lang="en-US" dirty="0"/>
              <a:t>.</a:t>
            </a:r>
            <a:endParaRPr lang="en-US" dirty="0" smtClean="0"/>
          </a:p>
          <a:p>
            <a:r>
              <a:rPr lang="en-US" dirty="0"/>
              <a:t>F</a:t>
            </a:r>
            <a:r>
              <a:rPr lang="en-US" dirty="0" smtClean="0"/>
              <a:t>ixed </a:t>
            </a:r>
            <a:r>
              <a:rPr lang="en-US" dirty="0"/>
              <a:t>facility development within the zone like animal-breeding should be </a:t>
            </a:r>
            <a:r>
              <a:rPr lang="en-US" dirty="0" smtClean="0"/>
              <a:t>prohibited</a:t>
            </a:r>
            <a:r>
              <a:rPr lang="en-US" dirty="0"/>
              <a:t>.</a:t>
            </a:r>
            <a:endParaRPr lang="en-US" dirty="0" smtClean="0"/>
          </a:p>
          <a:p>
            <a:r>
              <a:rPr lang="en-US" dirty="0" smtClean="0"/>
              <a:t> </a:t>
            </a:r>
            <a:r>
              <a:rPr lang="en-US" dirty="0"/>
              <a:t>F</a:t>
            </a:r>
            <a:r>
              <a:rPr lang="en-US" dirty="0" smtClean="0"/>
              <a:t>loating </a:t>
            </a:r>
            <a:r>
              <a:rPr lang="en-US" dirty="0"/>
              <a:t>Restaurants and Eco-lodge should be created at the sites.</a:t>
            </a:r>
          </a:p>
          <a:p>
            <a:endParaRPr lang="en-US" dirty="0"/>
          </a:p>
        </p:txBody>
      </p:sp>
      <p:sp>
        <p:nvSpPr>
          <p:cNvPr id="6" name="TextBox 5"/>
          <p:cNvSpPr txBox="1"/>
          <p:nvPr/>
        </p:nvSpPr>
        <p:spPr>
          <a:xfrm>
            <a:off x="677334" y="596049"/>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Eco-tourism Products: </a:t>
            </a:r>
          </a:p>
        </p:txBody>
      </p:sp>
      <p:pic>
        <p:nvPicPr>
          <p:cNvPr id="10" name="Picture 9" descr="Tall Watch Tower In The Forest. Fire Prevention Stock Photo, Picture And  Royalty Free Image. Image 8680107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9261" y="4674894"/>
            <a:ext cx="2509324" cy="1646775"/>
          </a:xfrm>
          <a:prstGeom prst="rect">
            <a:avLst/>
          </a:prstGeom>
          <a:noFill/>
          <a:ln>
            <a:noFill/>
          </a:ln>
        </p:spPr>
      </p:pic>
      <p:sp>
        <p:nvSpPr>
          <p:cNvPr id="9" name="Rectangle 8"/>
          <p:cNvSpPr/>
          <p:nvPr/>
        </p:nvSpPr>
        <p:spPr>
          <a:xfrm>
            <a:off x="5847648" y="6321669"/>
            <a:ext cx="2044149" cy="388696"/>
          </a:xfrm>
          <a:prstGeom prst="rect">
            <a:avLst/>
          </a:prstGeom>
        </p:spPr>
        <p:txBody>
          <a:bodyPr wrap="none">
            <a:spAutoFit/>
          </a:bodyPr>
          <a:lstStyle/>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Figure: watch tower</a:t>
            </a:r>
            <a:endParaRPr lang="en-US" dirty="0">
              <a:latin typeface="Calibri" panose="020F0502020204030204" pitchFamily="34" charset="0"/>
              <a:ea typeface="Calibri" panose="020F0502020204030204" pitchFamily="34" charset="0"/>
              <a:cs typeface="Vrinda"/>
            </a:endParaRPr>
          </a:p>
        </p:txBody>
      </p:sp>
      <p:pic>
        <p:nvPicPr>
          <p:cNvPr id="12" name="Picture 11" descr="Floating restaurant - Review of Loboc Riverwatch Floating Resto, Loboc,  Philippines - Tripadvisor"/>
          <p:cNvPicPr/>
          <p:nvPr/>
        </p:nvPicPr>
        <p:blipFill>
          <a:blip r:embed="rId3">
            <a:extLst>
              <a:ext uri="{28A0092B-C50C-407E-A947-70E740481C1C}">
                <a14:useLocalDpi xmlns:a14="http://schemas.microsoft.com/office/drawing/2010/main" val="0"/>
              </a:ext>
            </a:extLst>
          </a:blip>
          <a:srcRect/>
          <a:stretch>
            <a:fillRect/>
          </a:stretch>
        </p:blipFill>
        <p:spPr bwMode="auto">
          <a:xfrm>
            <a:off x="1425770" y="4674894"/>
            <a:ext cx="2447290" cy="1628775"/>
          </a:xfrm>
          <a:prstGeom prst="rect">
            <a:avLst/>
          </a:prstGeom>
          <a:noFill/>
          <a:ln>
            <a:noFill/>
          </a:ln>
        </p:spPr>
      </p:pic>
      <p:sp>
        <p:nvSpPr>
          <p:cNvPr id="13" name="Rectangle 12"/>
          <p:cNvSpPr/>
          <p:nvPr/>
        </p:nvSpPr>
        <p:spPr>
          <a:xfrm>
            <a:off x="1224345" y="6303669"/>
            <a:ext cx="2850139" cy="368755"/>
          </a:xfrm>
          <a:prstGeom prst="rect">
            <a:avLst/>
          </a:prstGeom>
        </p:spPr>
        <p:txBody>
          <a:bodyPr wrap="none">
            <a:spAutoFit/>
          </a:bodyPr>
          <a:lstStyle/>
          <a:p>
            <a:pPr>
              <a:lnSpc>
                <a:spcPct val="107000"/>
              </a:lnSpc>
              <a:spcAft>
                <a:spcPts val="800"/>
              </a:spcAft>
            </a:pPr>
            <a:r>
              <a:rPr lang="en-US" dirty="0">
                <a:solidFill>
                  <a:srgbClr val="000000"/>
                </a:solidFill>
                <a:latin typeface="Times New Roman" panose="02020603050405020304" pitchFamily="18" charset="0"/>
                <a:ea typeface="Times New Roman" panose="02020603050405020304" pitchFamily="18" charset="0"/>
                <a:cs typeface="Vrinda"/>
              </a:rPr>
              <a:t>Figure: </a:t>
            </a:r>
            <a:r>
              <a:rPr lang="en-US" sz="1600" dirty="0"/>
              <a:t>Floating Restaurants </a:t>
            </a:r>
            <a:endParaRPr lang="en-US" sz="1600" dirty="0">
              <a:latin typeface="Calibri" panose="020F0502020204030204" pitchFamily="34" charset="0"/>
              <a:ea typeface="Calibri" panose="020F0502020204030204" pitchFamily="34" charset="0"/>
              <a:cs typeface="Vrinda"/>
            </a:endParaRPr>
          </a:p>
        </p:txBody>
      </p:sp>
    </p:spTree>
    <p:extLst>
      <p:ext uri="{BB962C8B-B14F-4D97-AF65-F5344CB8AC3E}">
        <p14:creationId xmlns:p14="http://schemas.microsoft.com/office/powerpoint/2010/main" val="13328963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anim calcmode="lin" valueType="num">
                                      <p:cBhvr>
                                        <p:cTn id="8" dur="250" fill="hold"/>
                                        <p:tgtEl>
                                          <p:spTgt spid="12"/>
                                        </p:tgtEl>
                                        <p:attrNameLst>
                                          <p:attrName>ppt_x</p:attrName>
                                        </p:attrNameLst>
                                      </p:cBhvr>
                                      <p:tavLst>
                                        <p:tav tm="0">
                                          <p:val>
                                            <p:strVal val="#ppt_x"/>
                                          </p:val>
                                        </p:tav>
                                        <p:tav tm="100000">
                                          <p:val>
                                            <p:strVal val="#ppt_x"/>
                                          </p:val>
                                        </p:tav>
                                      </p:tavLst>
                                    </p:anim>
                                    <p:anim calcmode="lin" valueType="num">
                                      <p:cBhvr>
                                        <p:cTn id="9" dur="25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anim calcmode="lin" valueType="num">
                                      <p:cBhvr>
                                        <p:cTn id="13" dur="250" fill="hold"/>
                                        <p:tgtEl>
                                          <p:spTgt spid="10"/>
                                        </p:tgtEl>
                                        <p:attrNameLst>
                                          <p:attrName>ppt_x</p:attrName>
                                        </p:attrNameLst>
                                      </p:cBhvr>
                                      <p:tavLst>
                                        <p:tav tm="0">
                                          <p:val>
                                            <p:strVal val="#ppt_x"/>
                                          </p:val>
                                        </p:tav>
                                        <p:tav tm="100000">
                                          <p:val>
                                            <p:strVal val="#ppt_x"/>
                                          </p:val>
                                        </p:tav>
                                      </p:tavLst>
                                    </p:anim>
                                    <p:anim calcmode="lin" valueType="num">
                                      <p:cBhvr>
                                        <p:cTn id="14" dur="25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250"/>
                                        <p:tgtEl>
                                          <p:spTgt spid="13"/>
                                        </p:tgtEl>
                                      </p:cBhvr>
                                    </p:animEffect>
                                    <p:anim calcmode="lin" valueType="num">
                                      <p:cBhvr>
                                        <p:cTn id="18" dur="250" fill="hold"/>
                                        <p:tgtEl>
                                          <p:spTgt spid="13"/>
                                        </p:tgtEl>
                                        <p:attrNameLst>
                                          <p:attrName>ppt_x</p:attrName>
                                        </p:attrNameLst>
                                      </p:cBhvr>
                                      <p:tavLst>
                                        <p:tav tm="0">
                                          <p:val>
                                            <p:strVal val="#ppt_x"/>
                                          </p:val>
                                        </p:tav>
                                        <p:tav tm="100000">
                                          <p:val>
                                            <p:strVal val="#ppt_x"/>
                                          </p:val>
                                        </p:tav>
                                      </p:tavLst>
                                    </p:anim>
                                    <p:anim calcmode="lin" valueType="num">
                                      <p:cBhvr>
                                        <p:cTn id="19" dur="25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50"/>
                                        <p:tgtEl>
                                          <p:spTgt spid="9"/>
                                        </p:tgtEl>
                                      </p:cBhvr>
                                    </p:animEffect>
                                    <p:anim calcmode="lin" valueType="num">
                                      <p:cBhvr>
                                        <p:cTn id="23" dur="250" fill="hold"/>
                                        <p:tgtEl>
                                          <p:spTgt spid="9"/>
                                        </p:tgtEl>
                                        <p:attrNameLst>
                                          <p:attrName>ppt_x</p:attrName>
                                        </p:attrNameLst>
                                      </p:cBhvr>
                                      <p:tavLst>
                                        <p:tav tm="0">
                                          <p:val>
                                            <p:strVal val="#ppt_x"/>
                                          </p:val>
                                        </p:tav>
                                        <p:tav tm="100000">
                                          <p:val>
                                            <p:strVal val="#ppt_x"/>
                                          </p:val>
                                        </p:tav>
                                      </p:tavLst>
                                    </p:anim>
                                    <p:anim calcmode="lin" valueType="num">
                                      <p:cBhvr>
                                        <p:cTn id="24" dur="2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357026"/>
            <a:ext cx="8596668" cy="3880773"/>
          </a:xfrm>
        </p:spPr>
        <p:txBody>
          <a:bodyPr/>
          <a:lstStyle/>
          <a:p>
            <a:r>
              <a:rPr lang="en-US" dirty="0"/>
              <a:t>Proper management of the area from destruction and illegal </a:t>
            </a:r>
            <a:r>
              <a:rPr lang="en-US" dirty="0" smtClean="0"/>
              <a:t>encroachment.</a:t>
            </a:r>
          </a:p>
          <a:p>
            <a:r>
              <a:rPr lang="en-US" dirty="0"/>
              <a:t>D</a:t>
            </a:r>
            <a:r>
              <a:rPr lang="en-US" dirty="0" smtClean="0"/>
              <a:t>evelop </a:t>
            </a:r>
            <a:r>
              <a:rPr lang="en-US" dirty="0"/>
              <a:t>easy access to the </a:t>
            </a:r>
            <a:r>
              <a:rPr lang="en-US" dirty="0" smtClean="0"/>
              <a:t>area, </a:t>
            </a:r>
            <a:r>
              <a:rPr lang="en-US" dirty="0"/>
              <a:t>construct the required numbers of bridges and culverts where </a:t>
            </a:r>
            <a:r>
              <a:rPr lang="en-US" dirty="0" smtClean="0"/>
              <a:t>necessary.</a:t>
            </a:r>
          </a:p>
          <a:p>
            <a:r>
              <a:rPr lang="en-US" dirty="0"/>
              <a:t>C</a:t>
            </a:r>
            <a:r>
              <a:rPr lang="en-US" dirty="0" smtClean="0"/>
              <a:t>reate </a:t>
            </a:r>
            <a:r>
              <a:rPr lang="en-US" dirty="0"/>
              <a:t>light infrastructure for the easy access from the road through the hills to reach </a:t>
            </a:r>
            <a:r>
              <a:rPr lang="en-US" dirty="0" smtClean="0"/>
              <a:t>beach, </a:t>
            </a:r>
            <a:r>
              <a:rPr lang="en-US" dirty="0"/>
              <a:t>the accessibility to St Martins Island, </a:t>
            </a:r>
            <a:r>
              <a:rPr lang="en-US" dirty="0" err="1"/>
              <a:t>Sonadia</a:t>
            </a:r>
            <a:r>
              <a:rPr lang="en-US" dirty="0"/>
              <a:t> Island should be ensured by engaging private sector; tourist facilities should be created at St Martin's and </a:t>
            </a:r>
            <a:r>
              <a:rPr lang="en-US" dirty="0" err="1"/>
              <a:t>Sonadia</a:t>
            </a:r>
            <a:r>
              <a:rPr lang="en-US" dirty="0"/>
              <a:t> </a:t>
            </a:r>
            <a:r>
              <a:rPr lang="en-US" dirty="0" smtClean="0"/>
              <a:t>Islands.</a:t>
            </a:r>
          </a:p>
          <a:p>
            <a:r>
              <a:rPr lang="en-US" dirty="0" smtClean="0"/>
              <a:t> </a:t>
            </a:r>
            <a:r>
              <a:rPr lang="en-US" dirty="0"/>
              <a:t>E</a:t>
            </a:r>
            <a:r>
              <a:rPr lang="en-US" dirty="0" smtClean="0"/>
              <a:t>stablish </a:t>
            </a:r>
            <a:r>
              <a:rPr lang="en-US" dirty="0"/>
              <a:t>a strong coordination with the Ministry of Environment of Forests to develop eco-tourism in this area.</a:t>
            </a:r>
          </a:p>
          <a:p>
            <a:endParaRPr lang="en-US" dirty="0"/>
          </a:p>
        </p:txBody>
      </p:sp>
      <p:sp>
        <p:nvSpPr>
          <p:cNvPr id="4" name="TextBox 3"/>
          <p:cNvSpPr txBox="1"/>
          <p:nvPr/>
        </p:nvSpPr>
        <p:spPr>
          <a:xfrm>
            <a:off x="643715" y="69720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err="1"/>
              <a:t>Teknaf</a:t>
            </a:r>
            <a:r>
              <a:rPr lang="en-US" dirty="0"/>
              <a:t> Peninsula:</a:t>
            </a:r>
          </a:p>
        </p:txBody>
      </p:sp>
    </p:spTree>
    <p:extLst>
      <p:ext uri="{BB962C8B-B14F-4D97-AF65-F5344CB8AC3E}">
        <p14:creationId xmlns:p14="http://schemas.microsoft.com/office/powerpoint/2010/main" val="1649156395"/>
      </p:ext>
    </p:extLst>
  </p:cSld>
  <p:clrMapOvr>
    <a:masterClrMapping/>
  </p:clrMapOvr>
  <p:transition spd="slow">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Narrow and Bumpy roads needs to be </a:t>
            </a:r>
            <a:r>
              <a:rPr lang="en-US" dirty="0" smtClean="0"/>
              <a:t>improved.</a:t>
            </a:r>
          </a:p>
          <a:p>
            <a:r>
              <a:rPr lang="en-US" dirty="0" smtClean="0"/>
              <a:t>Security </a:t>
            </a:r>
            <a:r>
              <a:rPr lang="en-US" dirty="0"/>
              <a:t>and safety for foreign tourists should be </a:t>
            </a:r>
            <a:r>
              <a:rPr lang="en-US" dirty="0" smtClean="0"/>
              <a:t>ensured.</a:t>
            </a:r>
          </a:p>
          <a:p>
            <a:r>
              <a:rPr lang="en-US" dirty="0"/>
              <a:t>P</a:t>
            </a:r>
            <a:r>
              <a:rPr lang="en-US" dirty="0" smtClean="0"/>
              <a:t>roper </a:t>
            </a:r>
            <a:r>
              <a:rPr lang="en-US" dirty="0"/>
              <a:t>publicity and marketing of this </a:t>
            </a:r>
            <a:r>
              <a:rPr lang="en-US" dirty="0" smtClean="0"/>
              <a:t>region.</a:t>
            </a:r>
          </a:p>
          <a:p>
            <a:r>
              <a:rPr lang="en-US" dirty="0"/>
              <a:t>C</a:t>
            </a:r>
            <a:r>
              <a:rPr lang="en-US" dirty="0" smtClean="0"/>
              <a:t>onservation of nature.</a:t>
            </a:r>
          </a:p>
          <a:p>
            <a:r>
              <a:rPr lang="en-US" dirty="0" smtClean="0"/>
              <a:t> </a:t>
            </a:r>
            <a:r>
              <a:rPr lang="en-US" dirty="0"/>
              <a:t>P</a:t>
            </a:r>
            <a:r>
              <a:rPr lang="en-US" dirty="0" smtClean="0"/>
              <a:t>articipation </a:t>
            </a:r>
            <a:r>
              <a:rPr lang="en-US" dirty="0"/>
              <a:t>of ethnic communities in tourism to improve their livelihood.</a:t>
            </a:r>
          </a:p>
        </p:txBody>
      </p:sp>
      <p:sp>
        <p:nvSpPr>
          <p:cNvPr id="4" name="TextBox 3"/>
          <p:cNvSpPr txBox="1"/>
          <p:nvPr/>
        </p:nvSpPr>
        <p:spPr>
          <a:xfrm>
            <a:off x="643715" y="151924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Chittagong Hill Tracts: </a:t>
            </a:r>
          </a:p>
        </p:txBody>
      </p:sp>
    </p:spTree>
    <p:extLst>
      <p:ext uri="{BB962C8B-B14F-4D97-AF65-F5344CB8AC3E}">
        <p14:creationId xmlns:p14="http://schemas.microsoft.com/office/powerpoint/2010/main" val="271752595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1835274"/>
            <a:ext cx="8596668" cy="3880773"/>
          </a:xfrm>
        </p:spPr>
        <p:txBody>
          <a:bodyPr/>
          <a:lstStyle/>
          <a:p>
            <a:r>
              <a:rPr lang="en-US" dirty="0"/>
              <a:t>Develop water transport to the </a:t>
            </a:r>
            <a:r>
              <a:rPr lang="en-US" dirty="0" err="1"/>
              <a:t>Haor</a:t>
            </a:r>
            <a:r>
              <a:rPr lang="en-US" dirty="0"/>
              <a:t> sites during winter to watch migratory </a:t>
            </a:r>
            <a:r>
              <a:rPr lang="en-US" dirty="0" smtClean="0"/>
              <a:t>birds.</a:t>
            </a:r>
          </a:p>
          <a:p>
            <a:r>
              <a:rPr lang="en-US" dirty="0"/>
              <a:t>D</a:t>
            </a:r>
            <a:r>
              <a:rPr lang="en-US" dirty="0" smtClean="0"/>
              <a:t>evelop </a:t>
            </a:r>
            <a:r>
              <a:rPr lang="en-US" dirty="0"/>
              <a:t>night halt facilities for the tourists within the local </a:t>
            </a:r>
            <a:r>
              <a:rPr lang="en-US" dirty="0" smtClean="0"/>
              <a:t>community </a:t>
            </a:r>
            <a:r>
              <a:rPr lang="en-US" dirty="0"/>
              <a:t>train and register local youths as tour guides and involve them during the tourist </a:t>
            </a:r>
            <a:r>
              <a:rPr lang="en-US" dirty="0" smtClean="0"/>
              <a:t>season.</a:t>
            </a:r>
          </a:p>
          <a:p>
            <a:r>
              <a:rPr lang="en-US" dirty="0"/>
              <a:t>L</a:t>
            </a:r>
            <a:r>
              <a:rPr lang="en-US" dirty="0" smtClean="0"/>
              <a:t>ivelihood </a:t>
            </a:r>
            <a:r>
              <a:rPr lang="en-US" dirty="0"/>
              <a:t>of the local community to be involved in the seasonal tourism industry for protection and conservation of the </a:t>
            </a:r>
            <a:r>
              <a:rPr lang="en-US" dirty="0" err="1"/>
              <a:t>Haors</a:t>
            </a:r>
            <a:r>
              <a:rPr lang="en-US" dirty="0"/>
              <a:t>.</a:t>
            </a:r>
            <a:br>
              <a:rPr lang="en-US" dirty="0"/>
            </a:br>
            <a:endParaRPr lang="en-US" dirty="0"/>
          </a:p>
        </p:txBody>
      </p:sp>
      <p:sp>
        <p:nvSpPr>
          <p:cNvPr id="4" name="TextBox 3"/>
          <p:cNvSpPr txBox="1"/>
          <p:nvPr/>
        </p:nvSpPr>
        <p:spPr>
          <a:xfrm>
            <a:off x="643715" y="991703"/>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err="1"/>
              <a:t>Tanguar</a:t>
            </a:r>
            <a:r>
              <a:rPr lang="en-US" dirty="0"/>
              <a:t> and </a:t>
            </a:r>
            <a:r>
              <a:rPr lang="en-US" dirty="0" err="1"/>
              <a:t>Hakaluki</a:t>
            </a:r>
            <a:r>
              <a:rPr lang="en-US" dirty="0"/>
              <a:t> </a:t>
            </a:r>
            <a:r>
              <a:rPr lang="en-US" dirty="0" err="1"/>
              <a:t>Haor</a:t>
            </a:r>
            <a:r>
              <a:rPr lang="en-US" dirty="0"/>
              <a:t>: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7146" y="4434254"/>
            <a:ext cx="2388577" cy="1592385"/>
          </a:xfrm>
          <a:prstGeom prst="rect">
            <a:avLst/>
          </a:prstGeom>
        </p:spPr>
      </p:pic>
    </p:spTree>
    <p:extLst>
      <p:ext uri="{BB962C8B-B14F-4D97-AF65-F5344CB8AC3E}">
        <p14:creationId xmlns:p14="http://schemas.microsoft.com/office/powerpoint/2010/main" val="2802649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0953" y="964835"/>
            <a:ext cx="8596668" cy="3880773"/>
          </a:xfrm>
        </p:spPr>
        <p:txBody>
          <a:bodyPr>
            <a:normAutofit lnSpcReduction="10000"/>
          </a:bodyPr>
          <a:lstStyle/>
          <a:p>
            <a:r>
              <a:rPr lang="en-US" dirty="0" smtClean="0"/>
              <a:t>Where </a:t>
            </a:r>
            <a:r>
              <a:rPr lang="en-US" dirty="0"/>
              <a:t>possible such as St. </a:t>
            </a:r>
            <a:r>
              <a:rPr lang="en-US" dirty="0" smtClean="0"/>
              <a:t>Martin's,  must arrange the facility of </a:t>
            </a:r>
            <a:r>
              <a:rPr lang="en-US" cap="all" dirty="0"/>
              <a:t>SCUBA </a:t>
            </a:r>
            <a:r>
              <a:rPr lang="en-US" cap="all" dirty="0" smtClean="0"/>
              <a:t>DIVING</a:t>
            </a:r>
            <a:endParaRPr lang="en-US" dirty="0"/>
          </a:p>
          <a:p>
            <a:r>
              <a:rPr lang="en-US" dirty="0" smtClean="0"/>
              <a:t>Offer </a:t>
            </a:r>
            <a:r>
              <a:rPr lang="en-US" dirty="0"/>
              <a:t>a potentially safer, secure and private means of seeing the country without the problem of crowds gathering around tourists which occurs 'on the </a:t>
            </a:r>
            <a:r>
              <a:rPr lang="en-US" dirty="0" smtClean="0"/>
              <a:t>ground‘.</a:t>
            </a:r>
          </a:p>
          <a:p>
            <a:r>
              <a:rPr lang="en-US" dirty="0"/>
              <a:t>E</a:t>
            </a:r>
            <a:r>
              <a:rPr lang="en-US" dirty="0" smtClean="0"/>
              <a:t>ncourage </a:t>
            </a:r>
            <a:r>
              <a:rPr lang="en-US" dirty="0"/>
              <a:t>private tour operators to get involved in riverine </a:t>
            </a:r>
            <a:r>
              <a:rPr lang="en-US" dirty="0" smtClean="0"/>
              <a:t>tourism</a:t>
            </a:r>
          </a:p>
          <a:p>
            <a:r>
              <a:rPr lang="en-US" dirty="0" smtClean="0"/>
              <a:t>Organize </a:t>
            </a:r>
            <a:r>
              <a:rPr lang="en-US" dirty="0"/>
              <a:t>sightseeing tours, overnight trips with all types of food and beverage facilities on </a:t>
            </a:r>
            <a:r>
              <a:rPr lang="en-US" dirty="0" smtClean="0"/>
              <a:t>board.</a:t>
            </a:r>
          </a:p>
          <a:p>
            <a:r>
              <a:rPr lang="en-US" dirty="0"/>
              <a:t>O</a:t>
            </a:r>
            <a:r>
              <a:rPr lang="en-US" dirty="0" smtClean="0"/>
              <a:t>ffer </a:t>
            </a:r>
            <a:r>
              <a:rPr lang="en-US" dirty="0"/>
              <a:t>relatively comfortable, slow journey to the heart of the Sundarbans; make site excursion on small country boat into riverine </a:t>
            </a:r>
            <a:r>
              <a:rPr lang="en-US" dirty="0" smtClean="0"/>
              <a:t>villages. </a:t>
            </a:r>
            <a:r>
              <a:rPr lang="en-US" dirty="0"/>
              <a:t>C</a:t>
            </a:r>
            <a:r>
              <a:rPr lang="en-US" dirty="0" smtClean="0"/>
              <a:t>reate </a:t>
            </a:r>
            <a:r>
              <a:rPr lang="en-US" dirty="0"/>
              <a:t>skilled cruise guides Arrange rural cultural events for tourists.</a:t>
            </a:r>
            <a:br>
              <a:rPr lang="en-US" dirty="0"/>
            </a:br>
            <a:endParaRPr lang="en-US" dirty="0"/>
          </a:p>
        </p:txBody>
      </p:sp>
      <p:sp>
        <p:nvSpPr>
          <p:cNvPr id="4" name="TextBox 3"/>
          <p:cNvSpPr txBox="1"/>
          <p:nvPr/>
        </p:nvSpPr>
        <p:spPr>
          <a:xfrm>
            <a:off x="677334" y="466922"/>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Riverine Tourism: </a:t>
            </a:r>
          </a:p>
        </p:txBody>
      </p:sp>
      <p:pic>
        <p:nvPicPr>
          <p:cNvPr id="5" name="Picture 4" descr="Scuba Diving Saint Martin Bangladesh"/>
          <p:cNvPicPr/>
          <p:nvPr/>
        </p:nvPicPr>
        <p:blipFill>
          <a:blip r:embed="rId2">
            <a:extLst>
              <a:ext uri="{28A0092B-C50C-407E-A947-70E740481C1C}">
                <a14:useLocalDpi xmlns:a14="http://schemas.microsoft.com/office/drawing/2010/main" val="0"/>
              </a:ext>
            </a:extLst>
          </a:blip>
          <a:srcRect/>
          <a:stretch>
            <a:fillRect/>
          </a:stretch>
        </p:blipFill>
        <p:spPr bwMode="auto">
          <a:xfrm>
            <a:off x="3464537" y="4330111"/>
            <a:ext cx="2487856" cy="1569528"/>
          </a:xfrm>
          <a:prstGeom prst="rect">
            <a:avLst/>
          </a:prstGeom>
          <a:noFill/>
          <a:ln>
            <a:noFill/>
          </a:ln>
        </p:spPr>
      </p:pic>
      <p:sp>
        <p:nvSpPr>
          <p:cNvPr id="6" name="Rectangle 5"/>
          <p:cNvSpPr/>
          <p:nvPr/>
        </p:nvSpPr>
        <p:spPr>
          <a:xfrm>
            <a:off x="3539488" y="5922565"/>
            <a:ext cx="2412905" cy="369332"/>
          </a:xfrm>
          <a:prstGeom prst="rect">
            <a:avLst/>
          </a:prstGeom>
        </p:spPr>
        <p:txBody>
          <a:bodyPr wrap="none">
            <a:spAutoFit/>
          </a:bodyPr>
          <a:lstStyle/>
          <a:p>
            <a:r>
              <a:rPr lang="en-US" dirty="0"/>
              <a:t>Figure: SCUBA DIVING</a:t>
            </a:r>
          </a:p>
        </p:txBody>
      </p:sp>
    </p:spTree>
    <p:extLst>
      <p:ext uri="{BB962C8B-B14F-4D97-AF65-F5344CB8AC3E}">
        <p14:creationId xmlns:p14="http://schemas.microsoft.com/office/powerpoint/2010/main" val="84404481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25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715" y="1606674"/>
            <a:ext cx="8596668" cy="3880773"/>
          </a:xfrm>
        </p:spPr>
        <p:txBody>
          <a:bodyPr/>
          <a:lstStyle/>
          <a:p>
            <a:r>
              <a:rPr lang="en-US" dirty="0"/>
              <a:t>Develop a small number of villages in the medium-term; to complement the river tourism products and as destinations for the day trips from </a:t>
            </a:r>
            <a:r>
              <a:rPr lang="en-US" dirty="0" smtClean="0"/>
              <a:t>Dhaka</a:t>
            </a:r>
          </a:p>
          <a:p>
            <a:r>
              <a:rPr lang="en-US" dirty="0"/>
              <a:t>T</a:t>
            </a:r>
            <a:r>
              <a:rPr lang="en-US" dirty="0" smtClean="0"/>
              <a:t>he </a:t>
            </a:r>
            <a:r>
              <a:rPr lang="en-US" dirty="0"/>
              <a:t>village should feature historical and contemporary artifacts in museum, the making and selling of handicrafts and articles for domestic use, demonstrations of local craftsmanship, eating places with stalls preparing traditional food and displays of dancing, singing folkloric and religious </a:t>
            </a:r>
            <a:r>
              <a:rPr lang="en-US" dirty="0" smtClean="0"/>
              <a:t>rites</a:t>
            </a:r>
          </a:p>
          <a:p>
            <a:r>
              <a:rPr lang="en-US" dirty="0"/>
              <a:t>H</a:t>
            </a:r>
            <a:r>
              <a:rPr lang="en-US" dirty="0" smtClean="0"/>
              <a:t>ygiene </a:t>
            </a:r>
            <a:r>
              <a:rPr lang="en-US" dirty="0"/>
              <a:t>and other sanitation facilities should be </a:t>
            </a:r>
            <a:r>
              <a:rPr lang="en-US" dirty="0" smtClean="0"/>
              <a:t>created</a:t>
            </a:r>
          </a:p>
          <a:p>
            <a:r>
              <a:rPr lang="en-US" dirty="0" smtClean="0"/>
              <a:t>Routes entry </a:t>
            </a:r>
            <a:r>
              <a:rPr lang="en-US" dirty="0"/>
              <a:t>and </a:t>
            </a:r>
            <a:r>
              <a:rPr lang="en-US" dirty="0" smtClean="0"/>
              <a:t>exit </a:t>
            </a:r>
            <a:r>
              <a:rPr lang="en-US" dirty="0"/>
              <a:t>of the villages allowing for tours to the villages should be followed by stalls selling arts and crafts.</a:t>
            </a:r>
          </a:p>
        </p:txBody>
      </p:sp>
      <p:sp>
        <p:nvSpPr>
          <p:cNvPr id="4" name="TextBox 3"/>
          <p:cNvSpPr txBox="1"/>
          <p:nvPr/>
        </p:nvSpPr>
        <p:spPr>
          <a:xfrm>
            <a:off x="643715" y="894988"/>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Rural Tourism: </a:t>
            </a:r>
          </a:p>
        </p:txBody>
      </p:sp>
    </p:spTree>
    <p:extLst>
      <p:ext uri="{BB962C8B-B14F-4D97-AF65-F5344CB8AC3E}">
        <p14:creationId xmlns:p14="http://schemas.microsoft.com/office/powerpoint/2010/main" val="2260466610"/>
      </p:ext>
    </p:extLst>
  </p:cSld>
  <p:clrMapOvr>
    <a:masterClrMapping/>
  </p:clrMapOvr>
  <mc:AlternateContent xmlns:mc="http://schemas.openxmlformats.org/markup-compatibility/2006" xmlns:p14="http://schemas.microsoft.com/office/powerpoint/2010/main">
    <mc:Choice Requires="p14">
      <p:transition spd="slow" p14:dur="1750">
        <p14:glitter pattern="hexagon"/>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524" y="991212"/>
            <a:ext cx="8596668" cy="3880773"/>
          </a:xfrm>
        </p:spPr>
        <p:txBody>
          <a:bodyPr/>
          <a:lstStyle/>
          <a:p>
            <a:r>
              <a:rPr lang="en-US" dirty="0"/>
              <a:t>Must ensure Swift water </a:t>
            </a:r>
            <a:r>
              <a:rPr lang="en-US" dirty="0" smtClean="0"/>
              <a:t>rescue. </a:t>
            </a:r>
          </a:p>
          <a:p>
            <a:r>
              <a:rPr lang="en-US" dirty="0" smtClean="0"/>
              <a:t>Develop </a:t>
            </a:r>
            <a:r>
              <a:rPr lang="en-US" dirty="0"/>
              <a:t>infrastructure or easy </a:t>
            </a:r>
            <a:r>
              <a:rPr lang="en-US" dirty="0" smtClean="0"/>
              <a:t>access.</a:t>
            </a:r>
          </a:p>
          <a:p>
            <a:r>
              <a:rPr lang="en-US" dirty="0"/>
              <a:t>D</a:t>
            </a:r>
            <a:r>
              <a:rPr lang="en-US" dirty="0" smtClean="0"/>
              <a:t>evelop </a:t>
            </a:r>
            <a:r>
              <a:rPr lang="en-US" dirty="0"/>
              <a:t>land and water transport facilities for sightseeing tours and </a:t>
            </a:r>
            <a:r>
              <a:rPr lang="en-US" dirty="0" smtClean="0"/>
              <a:t>cruising.</a:t>
            </a:r>
          </a:p>
          <a:p>
            <a:r>
              <a:rPr lang="en-US" dirty="0"/>
              <a:t>I</a:t>
            </a:r>
            <a:r>
              <a:rPr lang="en-US" dirty="0" smtClean="0"/>
              <a:t>nstall </a:t>
            </a:r>
            <a:r>
              <a:rPr lang="en-US" dirty="0"/>
              <a:t>water sports </a:t>
            </a:r>
            <a:r>
              <a:rPr lang="en-US" dirty="0" smtClean="0"/>
              <a:t>facilities. </a:t>
            </a:r>
          </a:p>
          <a:p>
            <a:r>
              <a:rPr lang="en-US" dirty="0" smtClean="0"/>
              <a:t>Develop </a:t>
            </a:r>
            <a:r>
              <a:rPr lang="en-US" dirty="0"/>
              <a:t>typical </a:t>
            </a:r>
            <a:r>
              <a:rPr lang="en-US" dirty="0" err="1"/>
              <a:t>Rakhayne</a:t>
            </a:r>
            <a:r>
              <a:rPr lang="en-US" dirty="0"/>
              <a:t> ethnic community for cultural </a:t>
            </a:r>
            <a:r>
              <a:rPr lang="en-US" dirty="0" smtClean="0"/>
              <a:t>events.</a:t>
            </a:r>
          </a:p>
          <a:p>
            <a:r>
              <a:rPr lang="en-US" dirty="0"/>
              <a:t>D</a:t>
            </a:r>
            <a:r>
              <a:rPr lang="en-US" dirty="0" smtClean="0"/>
              <a:t>evelop </a:t>
            </a:r>
            <a:r>
              <a:rPr lang="en-US" dirty="0"/>
              <a:t>certain suitable portion of the beach as Special and Exclusive Tourist </a:t>
            </a:r>
            <a:r>
              <a:rPr lang="en-US" dirty="0" smtClean="0"/>
              <a:t>Area.</a:t>
            </a:r>
          </a:p>
          <a:p>
            <a:r>
              <a:rPr lang="en-US" dirty="0" smtClean="0"/>
              <a:t>Build up </a:t>
            </a:r>
            <a:r>
              <a:rPr lang="en-US" dirty="0"/>
              <a:t>community awareness.</a:t>
            </a:r>
            <a:br>
              <a:rPr lang="en-US" dirty="0"/>
            </a:br>
            <a:endParaRPr lang="en-US" dirty="0"/>
          </a:p>
        </p:txBody>
      </p:sp>
      <p:sp>
        <p:nvSpPr>
          <p:cNvPr id="4" name="TextBox 3"/>
          <p:cNvSpPr txBox="1"/>
          <p:nvPr/>
        </p:nvSpPr>
        <p:spPr>
          <a:xfrm>
            <a:off x="643715" y="464164"/>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Cox's Bazar Beach: </a:t>
            </a:r>
          </a:p>
        </p:txBody>
      </p:sp>
      <p:pic>
        <p:nvPicPr>
          <p:cNvPr id="7" name="Picture 6" descr="5+ Water Sports - Challenging and Exciting Activities To Do in Bali at  Tanjung Benoa - Bali Watersport Tour"/>
          <p:cNvPicPr/>
          <p:nvPr/>
        </p:nvPicPr>
        <p:blipFill>
          <a:blip r:embed="rId2">
            <a:extLst>
              <a:ext uri="{28A0092B-C50C-407E-A947-70E740481C1C}">
                <a14:useLocalDpi xmlns:a14="http://schemas.microsoft.com/office/drawing/2010/main" val="0"/>
              </a:ext>
            </a:extLst>
          </a:blip>
          <a:srcRect/>
          <a:stretch>
            <a:fillRect/>
          </a:stretch>
        </p:blipFill>
        <p:spPr bwMode="auto">
          <a:xfrm>
            <a:off x="2412023" y="4289547"/>
            <a:ext cx="4727331" cy="1733184"/>
          </a:xfrm>
          <a:prstGeom prst="rect">
            <a:avLst/>
          </a:prstGeom>
          <a:noFill/>
          <a:ln>
            <a:noFill/>
          </a:ln>
        </p:spPr>
      </p:pic>
      <p:sp>
        <p:nvSpPr>
          <p:cNvPr id="5" name="Rectangle 4"/>
          <p:cNvSpPr/>
          <p:nvPr/>
        </p:nvSpPr>
        <p:spPr>
          <a:xfrm>
            <a:off x="3559650" y="6022731"/>
            <a:ext cx="2432076" cy="388696"/>
          </a:xfrm>
          <a:prstGeom prst="rect">
            <a:avLst/>
          </a:prstGeom>
        </p:spPr>
        <p:txBody>
          <a:bodyPr wrap="none">
            <a:spAutoFit/>
          </a:bodyPr>
          <a:lstStyle/>
          <a:p>
            <a:pPr marL="142875" marR="0">
              <a:lnSpc>
                <a:spcPct val="107000"/>
              </a:lnSpc>
              <a:spcBef>
                <a:spcPts val="0"/>
              </a:spcBef>
              <a:spcAft>
                <a:spcPts val="0"/>
              </a:spcAft>
            </a:pPr>
            <a:r>
              <a:rPr lang="en-US" dirty="0">
                <a:latin typeface="Droid Sans"/>
                <a:ea typeface="Calibri" panose="020F0502020204030204" pitchFamily="34" charset="0"/>
                <a:cs typeface="Times New Roman" panose="02020603050405020304" pitchFamily="18" charset="0"/>
              </a:rPr>
              <a:t>Figure: water sports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53783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125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395659"/>
            <a:ext cx="8596668" cy="3880773"/>
          </a:xfrm>
        </p:spPr>
        <p:txBody>
          <a:bodyPr/>
          <a:lstStyle/>
          <a:p>
            <a:r>
              <a:rPr lang="en-US" dirty="0"/>
              <a:t>Promote </a:t>
            </a:r>
            <a:r>
              <a:rPr lang="en-US" dirty="0" err="1"/>
              <a:t>Kuakata</a:t>
            </a:r>
            <a:r>
              <a:rPr lang="en-US" dirty="0"/>
              <a:t> Beach as an attractive tourism product and provide required tourist </a:t>
            </a:r>
            <a:r>
              <a:rPr lang="en-US" dirty="0" smtClean="0"/>
              <a:t>facilities</a:t>
            </a:r>
            <a:r>
              <a:rPr lang="en-US" dirty="0"/>
              <a:t>.</a:t>
            </a:r>
            <a:endParaRPr lang="en-US" dirty="0" smtClean="0"/>
          </a:p>
          <a:p>
            <a:r>
              <a:rPr lang="en-US" dirty="0"/>
              <a:t>D</a:t>
            </a:r>
            <a:r>
              <a:rPr lang="en-US" dirty="0" smtClean="0"/>
              <a:t>evelop </a:t>
            </a:r>
            <a:r>
              <a:rPr lang="en-US" dirty="0"/>
              <a:t>and promote a portion of </a:t>
            </a:r>
            <a:r>
              <a:rPr lang="en-US" dirty="0" err="1"/>
              <a:t>Kuakata</a:t>
            </a:r>
            <a:r>
              <a:rPr lang="en-US" dirty="0"/>
              <a:t> (</a:t>
            </a:r>
            <a:r>
              <a:rPr lang="en-US" dirty="0" err="1"/>
              <a:t>Gangamati</a:t>
            </a:r>
            <a:r>
              <a:rPr lang="en-US" dirty="0"/>
              <a:t>) beach into an </a:t>
            </a:r>
            <a:r>
              <a:rPr lang="en-US" dirty="0" smtClean="0"/>
              <a:t>exclusive </a:t>
            </a:r>
            <a:r>
              <a:rPr lang="en-US" dirty="0"/>
              <a:t>Tourist </a:t>
            </a:r>
            <a:r>
              <a:rPr lang="en-US" dirty="0" smtClean="0"/>
              <a:t>Area.</a:t>
            </a:r>
          </a:p>
          <a:p>
            <a:r>
              <a:rPr lang="en-US" dirty="0"/>
              <a:t>S</a:t>
            </a:r>
            <a:r>
              <a:rPr lang="en-US" dirty="0" smtClean="0"/>
              <a:t>tress </a:t>
            </a:r>
            <a:r>
              <a:rPr lang="en-US" dirty="0"/>
              <a:t>to be given on the marketing of ancillary products of </a:t>
            </a:r>
            <a:r>
              <a:rPr lang="en-US" dirty="0" smtClean="0"/>
              <a:t>tourism.</a:t>
            </a:r>
          </a:p>
          <a:p>
            <a:r>
              <a:rPr lang="en-US" dirty="0" smtClean="0"/>
              <a:t> Showcasing </a:t>
            </a:r>
            <a:r>
              <a:rPr lang="en-US" dirty="0"/>
              <a:t>local </a:t>
            </a:r>
            <a:r>
              <a:rPr lang="en-US" dirty="0" err="1"/>
              <a:t>Rakhayne</a:t>
            </a:r>
            <a:r>
              <a:rPr lang="en-US" dirty="0"/>
              <a:t> community for cultural </a:t>
            </a:r>
            <a:r>
              <a:rPr lang="en-US" dirty="0" smtClean="0"/>
              <a:t>events.</a:t>
            </a:r>
          </a:p>
          <a:p>
            <a:r>
              <a:rPr lang="en-US" dirty="0"/>
              <a:t>T</a:t>
            </a:r>
            <a:r>
              <a:rPr lang="en-US" dirty="0" smtClean="0"/>
              <a:t>raining </a:t>
            </a:r>
            <a:r>
              <a:rPr lang="en-US" dirty="0"/>
              <a:t>on community awareness and their virtual participation to the promotion of tourism.</a:t>
            </a:r>
          </a:p>
          <a:p>
            <a:endParaRPr lang="en-US" dirty="0"/>
          </a:p>
        </p:txBody>
      </p:sp>
      <p:sp>
        <p:nvSpPr>
          <p:cNvPr id="4" name="TextBox 3"/>
          <p:cNvSpPr txBox="1"/>
          <p:nvPr/>
        </p:nvSpPr>
        <p:spPr>
          <a:xfrm>
            <a:off x="643715" y="754310"/>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err="1"/>
              <a:t>Kuakata</a:t>
            </a:r>
            <a:r>
              <a:rPr lang="en-US" dirty="0"/>
              <a:t> Beach: </a:t>
            </a:r>
          </a:p>
        </p:txBody>
      </p:sp>
    </p:spTree>
    <p:extLst>
      <p:ext uri="{BB962C8B-B14F-4D97-AF65-F5344CB8AC3E}">
        <p14:creationId xmlns:p14="http://schemas.microsoft.com/office/powerpoint/2010/main" val="930268171"/>
      </p:ext>
    </p:extLst>
  </p:cSld>
  <p:clrMapOvr>
    <a:masterClrMapping/>
  </p:clrMapOvr>
  <p:transition spd="slow">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Though not rich in this industry, Bangladesh has significant and rich resources for this industry. She has got huge possibilities to flourish in the industry. She possesses a lot of attractive spots or places or centers to reform and represent.</a:t>
            </a:r>
          </a:p>
          <a:p>
            <a:r>
              <a:rPr lang="en-US" dirty="0"/>
              <a:t> If those are maintained, reconstructed and utilized in a proper way to get the visitors worldwide through the propaganda and advertisements, the tourism industry could be the highest incoming source for the national economy. </a:t>
            </a:r>
          </a:p>
          <a:p>
            <a:endParaRPr lang="en-US" dirty="0"/>
          </a:p>
        </p:txBody>
      </p:sp>
      <p:sp>
        <p:nvSpPr>
          <p:cNvPr id="4" name="TextBox 3"/>
          <p:cNvSpPr txBox="1"/>
          <p:nvPr/>
        </p:nvSpPr>
        <p:spPr>
          <a:xfrm>
            <a:off x="3143474" y="216703"/>
            <a:ext cx="5367479"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fontAlgn="t"/>
            <a:r>
              <a:rPr lang="en-US" b="1" dirty="0"/>
              <a:t>MD. SAJID AL </a:t>
            </a:r>
            <a:r>
              <a:rPr lang="en-US" b="1" dirty="0" smtClean="0"/>
              <a:t>SAKIB</a:t>
            </a:r>
            <a:r>
              <a:rPr lang="en-US" dirty="0"/>
              <a:t> </a:t>
            </a:r>
            <a:r>
              <a:rPr lang="en-US" dirty="0" smtClean="0"/>
              <a:t>   </a:t>
            </a:r>
            <a:r>
              <a:rPr lang="en-US" b="1" dirty="0" smtClean="0"/>
              <a:t>18-38085-2</a:t>
            </a:r>
            <a:endParaRPr lang="en-US" dirty="0"/>
          </a:p>
        </p:txBody>
      </p:sp>
      <p:sp>
        <p:nvSpPr>
          <p:cNvPr id="5" name="TextBox 4"/>
          <p:cNvSpPr txBox="1"/>
          <p:nvPr/>
        </p:nvSpPr>
        <p:spPr>
          <a:xfrm>
            <a:off x="3570476" y="737718"/>
            <a:ext cx="4513474" cy="369332"/>
          </a:xfrm>
          <a:prstGeom prst="rect">
            <a:avLst/>
          </a:prstGeom>
          <a:solidFill>
            <a:srgbClr val="00B050"/>
          </a:solidFill>
        </p:spPr>
        <p:txBody>
          <a:bodyPr wrap="square" rtlCol="0">
            <a:spAutoFit/>
          </a:bodyPr>
          <a:lstStyle/>
          <a:p>
            <a:r>
              <a:rPr lang="en-US" b="1" dirty="0"/>
              <a:t>Future Prospects and Suggestions</a:t>
            </a:r>
            <a:endParaRPr lang="en-US" dirty="0"/>
          </a:p>
        </p:txBody>
      </p:sp>
    </p:spTree>
    <p:extLst>
      <p:ext uri="{BB962C8B-B14F-4D97-AF65-F5344CB8AC3E}">
        <p14:creationId xmlns:p14="http://schemas.microsoft.com/office/powerpoint/2010/main" val="6653105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2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2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0953" y="1269049"/>
            <a:ext cx="8596668" cy="3880773"/>
          </a:xfrm>
        </p:spPr>
        <p:txBody>
          <a:bodyPr/>
          <a:lstStyle/>
          <a:p>
            <a:r>
              <a:rPr lang="en-US" dirty="0"/>
              <a:t>The importance of tourism sector has increased overtime. In 2009-2010, 838 was allocated for tourism sector from national budget. This has been increased to 1818 in 2011-2012. However, lately there is a decreasing trend in tourism expenditure. In 2013-2014, tourism expenditure in national budget has been falling to 683. This decreasing trend may be due to the current political crisis, which has discouraged tourism in Bangladesh.</a:t>
            </a:r>
          </a:p>
          <a:p>
            <a:endParaRPr lang="en-US" dirty="0"/>
          </a:p>
        </p:txBody>
      </p:sp>
      <p:sp>
        <p:nvSpPr>
          <p:cNvPr id="4" name="TextBox 3"/>
          <p:cNvSpPr txBox="1"/>
          <p:nvPr/>
        </p:nvSpPr>
        <p:spPr>
          <a:xfrm>
            <a:off x="677334" y="66199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smtClean="0"/>
              <a:t>Contribution </a:t>
            </a:r>
            <a:r>
              <a:rPr lang="en-US" b="1" dirty="0"/>
              <a:t>of Tourism in Bangladesh Economy</a:t>
            </a:r>
            <a:endParaRPr lang="en-US" dirty="0"/>
          </a:p>
        </p:txBody>
      </p:sp>
      <p:pic>
        <p:nvPicPr>
          <p:cNvPr id="5" name="Picture 4"/>
          <p:cNvPicPr/>
          <p:nvPr/>
        </p:nvPicPr>
        <p:blipFill>
          <a:blip r:embed="rId2"/>
          <a:stretch>
            <a:fillRect/>
          </a:stretch>
        </p:blipFill>
        <p:spPr>
          <a:xfrm>
            <a:off x="1745487" y="3038891"/>
            <a:ext cx="6346953" cy="3041869"/>
          </a:xfrm>
          <a:prstGeom prst="rect">
            <a:avLst/>
          </a:prstGeom>
        </p:spPr>
      </p:pic>
      <p:sp>
        <p:nvSpPr>
          <p:cNvPr id="6" name="Rectangle 5"/>
          <p:cNvSpPr/>
          <p:nvPr/>
        </p:nvSpPr>
        <p:spPr>
          <a:xfrm>
            <a:off x="1745487" y="5989691"/>
            <a:ext cx="7562134" cy="388696"/>
          </a:xfrm>
          <a:prstGeom prst="rect">
            <a:avLst/>
          </a:prstGeom>
        </p:spPr>
        <p:txBody>
          <a:bodyPr wrap="square">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Figure 1: Distribution of money at the tourism sector in the national budget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3569450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50" fill="hold"/>
                                        <p:tgtEl>
                                          <p:spTgt spid="6"/>
                                        </p:tgtEl>
                                        <p:attrNameLst>
                                          <p:attrName>ppt_x</p:attrName>
                                        </p:attrNameLst>
                                      </p:cBhvr>
                                      <p:tavLst>
                                        <p:tav tm="0">
                                          <p:val>
                                            <p:strVal val="#ppt_x"/>
                                          </p:val>
                                        </p:tav>
                                        <p:tav tm="100000">
                                          <p:val>
                                            <p:strVal val="#ppt_x"/>
                                          </p:val>
                                        </p:tav>
                                      </p:tavLst>
                                    </p:anim>
                                    <p:anim calcmode="lin" valueType="num">
                                      <p:cBhvr additive="base">
                                        <p:cTn id="12"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829119"/>
            <a:ext cx="8596668" cy="3880773"/>
          </a:xfrm>
        </p:spPr>
        <p:txBody>
          <a:bodyPr>
            <a:normAutofit/>
          </a:bodyPr>
          <a:lstStyle/>
          <a:p>
            <a:r>
              <a:rPr lang="en-US" dirty="0"/>
              <a:t>IT is a data of 2013-2014 which published in daily Newspaper </a:t>
            </a:r>
            <a:r>
              <a:rPr lang="en-US" dirty="0" err="1"/>
              <a:t>prothom</a:t>
            </a:r>
            <a:r>
              <a:rPr lang="en-US" dirty="0"/>
              <a:t> </a:t>
            </a:r>
            <a:r>
              <a:rPr lang="en-US" dirty="0" err="1"/>
              <a:t>Alo</a:t>
            </a:r>
            <a:r>
              <a:rPr lang="en-US" dirty="0"/>
              <a:t>. Now in 2020 in increase huge budget</a:t>
            </a:r>
            <a:r>
              <a:rPr lang="en-US" dirty="0" smtClean="0"/>
              <a:t>.</a:t>
            </a:r>
            <a:r>
              <a:rPr lang="en-US" dirty="0"/>
              <a:t> </a:t>
            </a:r>
          </a:p>
          <a:p>
            <a:r>
              <a:rPr lang="en-US" dirty="0"/>
              <a:t>The picture of day-to-day and even year-to-year performance of the economy of Bangladesh is a mixture of accomplishment and failure, not </a:t>
            </a:r>
            <a:r>
              <a:rPr lang="en-US" dirty="0" smtClean="0"/>
              <a:t>significantly different</a:t>
            </a:r>
            <a:r>
              <a:rPr lang="en-US" dirty="0"/>
              <a:t> from that of the majority of poor Third World countries. </a:t>
            </a:r>
            <a:r>
              <a:rPr lang="en-US" dirty="0" smtClean="0"/>
              <a:t>The government </a:t>
            </a:r>
            <a:r>
              <a:rPr lang="en-US" dirty="0"/>
              <a:t>and people of Bangladesh are entitled to take some pride in </a:t>
            </a:r>
            <a:r>
              <a:rPr lang="en-US" dirty="0" smtClean="0"/>
              <a:t>the degree </a:t>
            </a:r>
            <a:r>
              <a:rPr lang="en-US" dirty="0"/>
              <a:t>of success they have achieved since independence</a:t>
            </a:r>
            <a:r>
              <a:rPr lang="en-US" dirty="0" smtClean="0"/>
              <a:t>.</a:t>
            </a:r>
            <a:endParaRPr lang="en-US" dirty="0"/>
          </a:p>
          <a:p>
            <a:r>
              <a:rPr lang="en-US" dirty="0" smtClean="0"/>
              <a:t>It </a:t>
            </a:r>
            <a:r>
              <a:rPr lang="en-US" dirty="0"/>
              <a:t>has the ability to introduce Bangladesh with the people around </a:t>
            </a:r>
            <a:r>
              <a:rPr lang="en-US" dirty="0" smtClean="0"/>
              <a:t>the world.</a:t>
            </a:r>
            <a:endParaRPr lang="en-US" dirty="0"/>
          </a:p>
          <a:p>
            <a:r>
              <a:rPr lang="en-US" dirty="0" smtClean="0"/>
              <a:t>Tourism </a:t>
            </a:r>
            <a:r>
              <a:rPr lang="en-US" dirty="0"/>
              <a:t>industry can also help us to create a better image in the </a:t>
            </a:r>
            <a:r>
              <a:rPr lang="en-US" dirty="0" smtClean="0"/>
              <a:t>world</a:t>
            </a:r>
          </a:p>
          <a:p>
            <a:r>
              <a:rPr lang="en-US" dirty="0" smtClean="0"/>
              <a:t>It </a:t>
            </a:r>
            <a:r>
              <a:rPr lang="en-US" dirty="0"/>
              <a:t>can also help Bangladesh in business purpose.</a:t>
            </a:r>
          </a:p>
          <a:p>
            <a:endParaRPr lang="en-US" dirty="0"/>
          </a:p>
          <a:p>
            <a:endParaRPr lang="en-US" dirty="0"/>
          </a:p>
        </p:txBody>
      </p:sp>
      <p:sp>
        <p:nvSpPr>
          <p:cNvPr id="5" name="TextBox 4"/>
          <p:cNvSpPr txBox="1"/>
          <p:nvPr/>
        </p:nvSpPr>
        <p:spPr>
          <a:xfrm>
            <a:off x="677334" y="105061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smtClean="0"/>
              <a:t>Contribution </a:t>
            </a:r>
            <a:r>
              <a:rPr lang="en-US" b="1" dirty="0"/>
              <a:t>of Tourism in Bangladesh Economy</a:t>
            </a:r>
            <a:endParaRPr lang="en-US" dirty="0"/>
          </a:p>
        </p:txBody>
      </p:sp>
    </p:spTree>
    <p:extLst>
      <p:ext uri="{BB962C8B-B14F-4D97-AF65-F5344CB8AC3E}">
        <p14:creationId xmlns:p14="http://schemas.microsoft.com/office/powerpoint/2010/main" val="253061414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383349"/>
            <a:ext cx="8596668" cy="3880773"/>
          </a:xfrm>
        </p:spPr>
        <p:txBody>
          <a:bodyPr>
            <a:normAutofit/>
          </a:bodyPr>
          <a:lstStyle/>
          <a:p>
            <a:r>
              <a:rPr lang="en-US" dirty="0" smtClean="0"/>
              <a:t>Bangladesh </a:t>
            </a:r>
            <a:r>
              <a:rPr lang="en-US" dirty="0"/>
              <a:t>has a large number of tourist spot in its area. All of them </a:t>
            </a:r>
            <a:r>
              <a:rPr lang="en-US" dirty="0" smtClean="0"/>
              <a:t>are special </a:t>
            </a:r>
            <a:r>
              <a:rPr lang="en-US" dirty="0"/>
              <a:t>in their own character. So all of them have individual </a:t>
            </a:r>
            <a:r>
              <a:rPr lang="en-US" dirty="0" smtClean="0"/>
              <a:t>attraction for </a:t>
            </a:r>
            <a:r>
              <a:rPr lang="en-US" dirty="0"/>
              <a:t>the tourist if some contractual work is done for easier movement</a:t>
            </a:r>
          </a:p>
          <a:p>
            <a:r>
              <a:rPr lang="en-US" dirty="0" smtClean="0"/>
              <a:t>These </a:t>
            </a:r>
            <a:r>
              <a:rPr lang="en-US" dirty="0"/>
              <a:t>tourist spots also can eliminate the unemployment problem of Bangladesh. Specialist said that more than 30% employment could </a:t>
            </a:r>
            <a:r>
              <a:rPr lang="en-US" dirty="0" smtClean="0"/>
              <a:t>be increased </a:t>
            </a:r>
            <a:r>
              <a:rPr lang="en-US" dirty="0"/>
              <a:t>if the government takes proper step for the development of tourism areas.</a:t>
            </a:r>
          </a:p>
          <a:p>
            <a:r>
              <a:rPr lang="en-US" dirty="0" smtClean="0"/>
              <a:t>If </a:t>
            </a:r>
            <a:r>
              <a:rPr lang="en-US" dirty="0"/>
              <a:t>we can make a position in the 7 wonders through Cox’s Bazar </a:t>
            </a:r>
            <a:r>
              <a:rPr lang="en-US" dirty="0" smtClean="0"/>
              <a:t>and Sundarbans </a:t>
            </a:r>
            <a:r>
              <a:rPr lang="en-US" dirty="0"/>
              <a:t>then the prospects of tourism industry in Bangladesh will </a:t>
            </a:r>
            <a:r>
              <a:rPr lang="en-US" dirty="0" smtClean="0"/>
              <a:t>be higher </a:t>
            </a:r>
            <a:r>
              <a:rPr lang="en-US" dirty="0"/>
              <a:t>and higher</a:t>
            </a:r>
          </a:p>
          <a:p>
            <a:r>
              <a:rPr lang="en-US" dirty="0" smtClean="0"/>
              <a:t>As </a:t>
            </a:r>
            <a:r>
              <a:rPr lang="en-US" dirty="0"/>
              <a:t>a third world country in the world Bangladesh can promote its position through the proper utilization of tourism industry.</a:t>
            </a:r>
          </a:p>
          <a:p>
            <a:endParaRPr lang="en-US" dirty="0"/>
          </a:p>
        </p:txBody>
      </p:sp>
      <p:sp>
        <p:nvSpPr>
          <p:cNvPr id="5" name="TextBox 4"/>
          <p:cNvSpPr txBox="1"/>
          <p:nvPr/>
        </p:nvSpPr>
        <p:spPr>
          <a:xfrm>
            <a:off x="677334" y="66199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smtClean="0"/>
              <a:t>Contribution </a:t>
            </a:r>
            <a:r>
              <a:rPr lang="en-US" b="1" dirty="0"/>
              <a:t>of Tourism in Bangladesh Economy</a:t>
            </a:r>
            <a:endParaRPr lang="en-US" dirty="0"/>
          </a:p>
        </p:txBody>
      </p:sp>
    </p:spTree>
    <p:extLst>
      <p:ext uri="{BB962C8B-B14F-4D97-AF65-F5344CB8AC3E}">
        <p14:creationId xmlns:p14="http://schemas.microsoft.com/office/powerpoint/2010/main" val="3474955533"/>
      </p:ext>
    </p:extLst>
  </p:cSld>
  <p:clrMapOvr>
    <a:masterClrMapping/>
  </p:clrMapOvr>
  <p:transition spd="slow">
    <p:comb/>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smtClean="0"/>
              <a:t>1.Tourism </a:t>
            </a:r>
            <a:r>
              <a:rPr lang="en-US" dirty="0"/>
              <a:t>industry of Bangladesh has a greater </a:t>
            </a:r>
            <a:r>
              <a:rPr lang="en-US" dirty="0" smtClean="0"/>
              <a:t>impact </a:t>
            </a:r>
            <a:r>
              <a:rPr lang="en-US" dirty="0"/>
              <a:t>and prospect in </a:t>
            </a:r>
            <a:r>
              <a:rPr lang="en-US" dirty="0" smtClean="0"/>
              <a:t>the overall </a:t>
            </a:r>
            <a:r>
              <a:rPr lang="en-US" dirty="0"/>
              <a:t>socio-economic condition of Bangladesh.</a:t>
            </a:r>
          </a:p>
          <a:p>
            <a:pPr lvl="0"/>
            <a:r>
              <a:rPr lang="en-US" dirty="0" smtClean="0"/>
              <a:t>2. Bangladesh </a:t>
            </a:r>
            <a:r>
              <a:rPr lang="en-US" dirty="0"/>
              <a:t>has a large number of known and unknown tourist </a:t>
            </a:r>
            <a:r>
              <a:rPr lang="en-US" dirty="0" smtClean="0"/>
              <a:t>spot around </a:t>
            </a:r>
            <a:r>
              <a:rPr lang="en-US" dirty="0"/>
              <a:t>the country such as Cox’s Bazar, </a:t>
            </a:r>
            <a:r>
              <a:rPr lang="en-US" dirty="0" err="1"/>
              <a:t>Kuakata</a:t>
            </a:r>
            <a:r>
              <a:rPr lang="en-US" dirty="0"/>
              <a:t>, </a:t>
            </a:r>
            <a:r>
              <a:rPr lang="en-US" dirty="0" err="1"/>
              <a:t>Kantajee</a:t>
            </a:r>
            <a:r>
              <a:rPr lang="en-US" dirty="0"/>
              <a:t> </a:t>
            </a:r>
            <a:r>
              <a:rPr lang="en-US" dirty="0" err="1"/>
              <a:t>Tample,Saint</a:t>
            </a:r>
            <a:r>
              <a:rPr lang="en-US" dirty="0"/>
              <a:t> Martin’s Island, </a:t>
            </a:r>
            <a:r>
              <a:rPr lang="en-US" dirty="0" err="1"/>
              <a:t>Sonargoan</a:t>
            </a:r>
            <a:r>
              <a:rPr lang="en-US" dirty="0"/>
              <a:t>, </a:t>
            </a:r>
            <a:r>
              <a:rPr lang="en-US" dirty="0" smtClean="0"/>
              <a:t>Sylhet, </a:t>
            </a:r>
            <a:r>
              <a:rPr lang="en-US" dirty="0"/>
              <a:t>Sundarbans, </a:t>
            </a:r>
            <a:r>
              <a:rPr lang="en-US" dirty="0" err="1"/>
              <a:t>Ramsagor</a:t>
            </a:r>
            <a:r>
              <a:rPr lang="en-US" dirty="0"/>
              <a:t>, and soon.</a:t>
            </a:r>
          </a:p>
          <a:p>
            <a:pPr lvl="0"/>
            <a:r>
              <a:rPr lang="en-US" dirty="0"/>
              <a:t>3. In the Bangladesh, tourism has not achieved the optimal level of development and status .Tourism business in Bangladesh, as measured </a:t>
            </a:r>
            <a:r>
              <a:rPr lang="en-US" dirty="0" smtClean="0"/>
              <a:t>biyearly </a:t>
            </a:r>
            <a:r>
              <a:rPr lang="en-US" dirty="0"/>
              <a:t>tourist arrivals. With 1 million in 2012 it constitutes about 0 .125 per cent of world total of over 800 million.</a:t>
            </a:r>
          </a:p>
          <a:p>
            <a:pPr lvl="0"/>
            <a:r>
              <a:rPr lang="en-US" dirty="0"/>
              <a:t>4. A large number of tourists come to visit Bangladesh each and every </a:t>
            </a:r>
            <a:r>
              <a:rPr lang="en-US" dirty="0" smtClean="0"/>
              <a:t>year. Though </a:t>
            </a:r>
            <a:r>
              <a:rPr lang="en-US" dirty="0"/>
              <a:t>these number can be increased through proper steps and policies.</a:t>
            </a:r>
          </a:p>
          <a:p>
            <a:endParaRPr lang="en-US" dirty="0"/>
          </a:p>
        </p:txBody>
      </p:sp>
      <p:sp>
        <p:nvSpPr>
          <p:cNvPr id="4" name="TextBox 3"/>
          <p:cNvSpPr txBox="1"/>
          <p:nvPr/>
        </p:nvSpPr>
        <p:spPr>
          <a:xfrm>
            <a:off x="643715" y="151924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dirty="0"/>
              <a:t>Impact of Tourism</a:t>
            </a:r>
          </a:p>
        </p:txBody>
      </p:sp>
    </p:spTree>
    <p:extLst>
      <p:ext uri="{BB962C8B-B14F-4D97-AF65-F5344CB8AC3E}">
        <p14:creationId xmlns:p14="http://schemas.microsoft.com/office/powerpoint/2010/main" val="35327028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474789"/>
            <a:ext cx="8596668" cy="3880773"/>
          </a:xfrm>
        </p:spPr>
        <p:txBody>
          <a:bodyPr>
            <a:normAutofit/>
          </a:bodyPr>
          <a:lstStyle/>
          <a:p>
            <a:r>
              <a:rPr lang="en-US" dirty="0"/>
              <a:t>Advertisement plays a vital role to run any anything as well. But in my analysis, I have found that the TV and internet advertisement of tourism sites in Bangladesh is not satisfactory at all. So the government as well as all class people of the country should take more attention to advertising</a:t>
            </a:r>
            <a:r>
              <a:rPr lang="en-US" dirty="0" smtClean="0"/>
              <a:t>.</a:t>
            </a:r>
          </a:p>
          <a:p>
            <a:r>
              <a:rPr lang="en-US" dirty="0" smtClean="0"/>
              <a:t>Government </a:t>
            </a:r>
            <a:r>
              <a:rPr lang="en-US" dirty="0"/>
              <a:t>should Show leadership by defining coherent and streamlined management structures that can efficiently drive New Tourism; </a:t>
            </a:r>
            <a:endParaRPr lang="en-US" dirty="0" smtClean="0"/>
          </a:p>
          <a:p>
            <a:r>
              <a:rPr lang="en-US" dirty="0" smtClean="0"/>
              <a:t>Industry </a:t>
            </a:r>
            <a:r>
              <a:rPr lang="en-US" dirty="0"/>
              <a:t>should: Adapt strategic thinking so as to develop tourism with benefits for everyone; </a:t>
            </a:r>
          </a:p>
          <a:p>
            <a:endParaRPr lang="en-US" dirty="0"/>
          </a:p>
        </p:txBody>
      </p:sp>
      <p:sp>
        <p:nvSpPr>
          <p:cNvPr id="4" name="TextBox 3"/>
          <p:cNvSpPr txBox="1"/>
          <p:nvPr/>
        </p:nvSpPr>
        <p:spPr>
          <a:xfrm>
            <a:off x="643715" y="63913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a:t>Recommendations</a:t>
            </a:r>
            <a:endParaRPr lang="en-US" dirty="0"/>
          </a:p>
        </p:txBody>
      </p:sp>
    </p:spTree>
    <p:extLst>
      <p:ext uri="{BB962C8B-B14F-4D97-AF65-F5344CB8AC3E}">
        <p14:creationId xmlns:p14="http://schemas.microsoft.com/office/powerpoint/2010/main" val="2273470545"/>
      </p:ext>
    </p:extLst>
  </p:cSld>
  <p:clrMapOvr>
    <a:masterClrMapping/>
  </p:clrMapOvr>
  <p:transition spd="slow">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Construction of modern communication;</a:t>
            </a:r>
          </a:p>
          <a:p>
            <a:r>
              <a:rPr lang="en-US" dirty="0"/>
              <a:t>Potential infrastructures;</a:t>
            </a:r>
          </a:p>
          <a:p>
            <a:r>
              <a:rPr lang="en-US" dirty="0"/>
              <a:t>Effective </a:t>
            </a:r>
            <a:r>
              <a:rPr lang="en-US" dirty="0" smtClean="0"/>
              <a:t>propaganda.</a:t>
            </a:r>
            <a:endParaRPr lang="en-US" dirty="0"/>
          </a:p>
          <a:p>
            <a:r>
              <a:rPr lang="en-US" dirty="0"/>
              <a:t>Security of the </a:t>
            </a:r>
            <a:r>
              <a:rPr lang="en-US" dirty="0" smtClean="0"/>
              <a:t>tourists.</a:t>
            </a:r>
            <a:endParaRPr lang="en-US" dirty="0"/>
          </a:p>
          <a:p>
            <a:r>
              <a:rPr lang="en-US" dirty="0"/>
              <a:t>Standard </a:t>
            </a:r>
            <a:r>
              <a:rPr lang="en-US" dirty="0" smtClean="0"/>
              <a:t>facilities.</a:t>
            </a:r>
            <a:endParaRPr lang="en-US" dirty="0"/>
          </a:p>
          <a:p>
            <a:r>
              <a:rPr lang="en-US" dirty="0"/>
              <a:t>Research and training.</a:t>
            </a:r>
          </a:p>
          <a:p>
            <a:pPr marL="0" indent="0">
              <a:buNone/>
            </a:pPr>
            <a:endParaRPr lang="en-US" dirty="0"/>
          </a:p>
        </p:txBody>
      </p:sp>
      <p:sp>
        <p:nvSpPr>
          <p:cNvPr id="4" name="TextBox 3"/>
          <p:cNvSpPr txBox="1"/>
          <p:nvPr/>
        </p:nvSpPr>
        <p:spPr>
          <a:xfrm>
            <a:off x="643715" y="151924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a:t>Recommendations</a:t>
            </a:r>
            <a:endParaRPr lang="en-US" dirty="0"/>
          </a:p>
        </p:txBody>
      </p:sp>
    </p:spTree>
    <p:extLst>
      <p:ext uri="{BB962C8B-B14F-4D97-AF65-F5344CB8AC3E}">
        <p14:creationId xmlns:p14="http://schemas.microsoft.com/office/powerpoint/2010/main" val="4224125412"/>
      </p:ext>
    </p:extLst>
  </p:cSld>
  <p:clrMapOvr>
    <a:masterClrMapping/>
  </p:clrMapOvr>
  <p:transition spd="med">
    <p:pull/>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160589"/>
            <a:ext cx="8596668" cy="3440111"/>
          </a:xfrm>
        </p:spPr>
        <p:txBody>
          <a:bodyPr/>
          <a:lstStyle/>
          <a:p>
            <a:r>
              <a:rPr lang="en-US" dirty="0"/>
              <a:t>Today’s world is a competitive one. Every kind of talents and treasures must have to be utilized properly to materialize the path of prosperity and success of a developing nation like ours. We have the resources to build up an image of tourist heaven. Why not we take the options to climb the ladder of development and be an emerging nation? We should do this, and so we must proceed regarding our tourism industry right at this moment when no ‘</a:t>
            </a:r>
            <a:r>
              <a:rPr lang="en-US" u="sng" dirty="0" err="1">
                <a:hlinkClick r:id="rId2"/>
              </a:rPr>
              <a:t>Aladin’s</a:t>
            </a:r>
            <a:r>
              <a:rPr lang="en-US" u="sng" dirty="0">
                <a:hlinkClick r:id="rId2"/>
              </a:rPr>
              <a:t> lamp</a:t>
            </a:r>
            <a:r>
              <a:rPr lang="en-US" dirty="0"/>
              <a:t>‘ is at our hand for progress.</a:t>
            </a:r>
          </a:p>
          <a:p>
            <a:endParaRPr lang="en-US" dirty="0"/>
          </a:p>
        </p:txBody>
      </p:sp>
      <p:sp>
        <p:nvSpPr>
          <p:cNvPr id="4" name="TextBox 3"/>
          <p:cNvSpPr txBox="1"/>
          <p:nvPr/>
        </p:nvSpPr>
        <p:spPr>
          <a:xfrm>
            <a:off x="643715" y="1519241"/>
            <a:ext cx="863028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smtClean="0"/>
              <a:t>Conclusion: </a:t>
            </a:r>
            <a:endParaRPr lang="en-US" dirty="0"/>
          </a:p>
        </p:txBody>
      </p:sp>
    </p:spTree>
    <p:extLst>
      <p:ext uri="{BB962C8B-B14F-4D97-AF65-F5344CB8AC3E}">
        <p14:creationId xmlns:p14="http://schemas.microsoft.com/office/powerpoint/2010/main" val="288849889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4980" y="2904392"/>
            <a:ext cx="8596668" cy="1320800"/>
          </a:xfrm>
        </p:spPr>
        <p:txBody>
          <a:bodyPr/>
          <a:lstStyle/>
          <a:p>
            <a:r>
              <a:rPr lang="en-US" dirty="0" smtClean="0"/>
              <a:t>THANK YOU</a:t>
            </a:r>
            <a:endParaRPr lang="en-US" dirty="0"/>
          </a:p>
        </p:txBody>
      </p:sp>
    </p:spTree>
    <p:extLst>
      <p:ext uri="{BB962C8B-B14F-4D97-AF65-F5344CB8AC3E}">
        <p14:creationId xmlns:p14="http://schemas.microsoft.com/office/powerpoint/2010/main" val="2243206752"/>
      </p:ext>
    </p:extLst>
  </p:cSld>
  <p:clrMapOvr>
    <a:masterClrMapping/>
  </p:clrMapOvr>
  <p:transition spd="slow">
    <p:fade/>
  </p:transition>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823</TotalTime>
  <Words>4769</Words>
  <Application>Microsoft Office PowerPoint</Application>
  <PresentationFormat>Custom</PresentationFormat>
  <Paragraphs>243</Paragraphs>
  <Slides>58</Slides>
  <Notes>1</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Facet</vt:lpstr>
      <vt:lpstr>  BANGLADESH STUDIES  SECTION : G  COURSE TEACHER: SHAIRA MATIN  TITLE : TOURISM AND DEVELOPMENT IN BANGLADESH  GROUP MEMBERS:  </vt:lpstr>
      <vt:lpstr>1. 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BANGLADESH STUDIES SECTION : G COURSE TEACHER: SHAIRA MATIN Title : Truism and development in Bangaldesh Group Member: 1)   2)  3)  4)  5)</dc:title>
  <dc:creator>RASEL KIBRIA</dc:creator>
  <cp:lastModifiedBy>ismail - [2010]</cp:lastModifiedBy>
  <cp:revision>59</cp:revision>
  <dcterms:created xsi:type="dcterms:W3CDTF">2020-12-20T12:40:59Z</dcterms:created>
  <dcterms:modified xsi:type="dcterms:W3CDTF">2020-12-30T18:51:00Z</dcterms:modified>
</cp:coreProperties>
</file>